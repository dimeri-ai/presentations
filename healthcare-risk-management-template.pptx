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4630400" cy="8229600"/>
  <p:notesSz cx="8229600" cy="14630400"/>
  <p:embeddedFontLst>
    <p:embeddedFont>
      <p:font typeface="Alexandria"/>
      <p:regular r:id="rId33"/>
    </p:embeddedFont>
    <p:embeddedFont>
      <p:font typeface="Alexandria"/>
      <p:regular r:id="rId34"/>
    </p:embeddedFont>
    <p:embeddedFont>
      <p:font typeface="Nobile"/>
      <p:regular r:id="rId35"/>
    </p:embeddedFont>
    <p:embeddedFont>
      <p:font typeface="Nobile"/>
      <p:regular r:id="rId36"/>
    </p:embeddedFont>
    <p:embeddedFont>
      <p:font typeface="Nobile"/>
      <p:regular r:id="rId37"/>
    </p:embeddedFont>
    <p:embeddedFont>
      <p:font typeface="Nobile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font" Target="fonts/font3.fntdata"/><Relationship Id="rId36" Type="http://schemas.openxmlformats.org/officeDocument/2006/relationships/font" Target="fonts/font4.fntdata"/><Relationship Id="rId37" Type="http://schemas.openxmlformats.org/officeDocument/2006/relationships/font" Target="fonts/font5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4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9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image" Target="../media/image-23-4.png"/><Relationship Id="rId5" Type="http://schemas.openxmlformats.org/officeDocument/2006/relationships/image" Target="../media/image-23-5.svg"/><Relationship Id="rId6" Type="http://schemas.openxmlformats.org/officeDocument/2006/relationships/image" Target="../media/image-23-6.png"/><Relationship Id="rId7" Type="http://schemas.openxmlformats.org/officeDocument/2006/relationships/image" Target="../media/image-23-7.svg"/><Relationship Id="rId8" Type="http://schemas.openxmlformats.org/officeDocument/2006/relationships/image" Target="../media/image-23-8.png"/><Relationship Id="rId9" Type="http://schemas.openxmlformats.org/officeDocument/2006/relationships/image" Target="../media/image-23-9.svg"/><Relationship Id="rId10" Type="http://schemas.openxmlformats.org/officeDocument/2006/relationships/slideLayout" Target="../slideLayouts/slideLayout24.xml"/><Relationship Id="rId11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image" Target="../media/image-24-9.png"/><Relationship Id="rId10" Type="http://schemas.openxmlformats.org/officeDocument/2006/relationships/image" Target="../media/image-24-10.sv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sv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sv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sv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sv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svg"/><Relationship Id="rId21" Type="http://schemas.openxmlformats.org/officeDocument/2006/relationships/slideLayout" Target="../slideLayouts/slideLayout25.xml"/><Relationship Id="rId2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93958"/>
            <a:ext cx="76721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73B48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Safety, Clinical Governance &amp; Enterprise Risk Oversight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93790" y="3800951"/>
            <a:ext cx="13042821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organizations operate in complex, high-stakes environments where risk management directly affects patient outcomes, legal exposure, regulatory compliance, and institutional reputation.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48181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Prepared by: Phumi Mhlongo &amp; Nozipho Mememla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520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Agenda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646878"/>
            <a:ext cx="198358" cy="1983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2936438"/>
            <a:ext cx="4215289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3081338"/>
            <a:ext cx="33206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Healthcare Risk Landscape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437" y="2646878"/>
            <a:ext cx="198358" cy="19835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207437" y="2936438"/>
            <a:ext cx="4215408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8" name="Text 4"/>
          <p:cNvSpPr/>
          <p:nvPr/>
        </p:nvSpPr>
        <p:spPr>
          <a:xfrm>
            <a:off x="5207437" y="3081338"/>
            <a:ext cx="25232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Core Risk Categories</a:t>
            </a:r>
            <a:endParaRPr lang="en-US" sz="1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1203" y="2646878"/>
            <a:ext cx="198358" cy="19835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621203" y="2936438"/>
            <a:ext cx="4215289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1" name="Text 6"/>
          <p:cNvSpPr/>
          <p:nvPr/>
        </p:nvSpPr>
        <p:spPr>
          <a:xfrm>
            <a:off x="9621203" y="3081338"/>
            <a:ext cx="35088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Safety &amp; Clinical Risk</a:t>
            </a:r>
            <a:endParaRPr lang="en-US" sz="1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3763447"/>
            <a:ext cx="198358" cy="19835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93790" y="4053007"/>
            <a:ext cx="4215289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4" name="Text 8"/>
          <p:cNvSpPr/>
          <p:nvPr/>
        </p:nvSpPr>
        <p:spPr>
          <a:xfrm>
            <a:off x="793790" y="4197906"/>
            <a:ext cx="32590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&amp; Cybersecurity Risks</a:t>
            </a:r>
            <a:endParaRPr lang="en-US" sz="1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07437" y="3763447"/>
            <a:ext cx="198358" cy="19835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5207437" y="4053007"/>
            <a:ext cx="4215408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0"/>
          <p:cNvSpPr/>
          <p:nvPr/>
        </p:nvSpPr>
        <p:spPr>
          <a:xfrm>
            <a:off x="5207437" y="4197906"/>
            <a:ext cx="38292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Regulatory &amp; Liability Exposure</a:t>
            </a:r>
            <a:endParaRPr lang="en-US" sz="1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21203" y="3763447"/>
            <a:ext cx="198358" cy="19835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621203" y="4053007"/>
            <a:ext cx="4215289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0" name="Text 12"/>
          <p:cNvSpPr/>
          <p:nvPr/>
        </p:nvSpPr>
        <p:spPr>
          <a:xfrm>
            <a:off x="9621203" y="4197906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Incident Management &amp; Quality Integration</a:t>
            </a:r>
            <a:endParaRPr lang="en-US" sz="19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3790" y="5190173"/>
            <a:ext cx="198358" cy="198358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793790" y="5479733"/>
            <a:ext cx="13042702" cy="2286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3" name="Text 14"/>
          <p:cNvSpPr/>
          <p:nvPr/>
        </p:nvSpPr>
        <p:spPr>
          <a:xfrm>
            <a:off x="793790" y="5624632"/>
            <a:ext cx="37848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Implementation &amp; Governance</a:t>
            </a:r>
            <a:endParaRPr lang="en-US" sz="1950" dirty="0"/>
          </a:p>
        </p:txBody>
      </p:sp>
      <p:sp>
        <p:nvSpPr>
          <p:cNvPr id="24" name="Text 15"/>
          <p:cNvSpPr/>
          <p:nvPr/>
        </p:nvSpPr>
        <p:spPr>
          <a:xfrm>
            <a:off x="793790" y="630686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presentation integrates patient safety science with enterprise risk governance.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9367"/>
            <a:ext cx="5644872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Healthcare Risk Landscape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463159"/>
            <a:ext cx="1304282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risk management is shaped by: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874044"/>
            <a:ext cx="421719" cy="4217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474952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Acuity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93790" y="2824401"/>
            <a:ext cx="643175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Increasing patient acuity and complexity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04735" y="1874044"/>
            <a:ext cx="421719" cy="4217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4735" y="2474952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Regulatory Scrutiny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404735" y="2824401"/>
            <a:ext cx="643187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Regulatory scrutiny and accreditation standards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360777"/>
            <a:ext cx="421719" cy="4217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396168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Privacy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793790" y="4311134"/>
            <a:ext cx="643175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privacy requirements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4735" y="3360777"/>
            <a:ext cx="421719" cy="42171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04735" y="396168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Staffing Challenges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7404735" y="4311134"/>
            <a:ext cx="643187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Staffing shortages and burnout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4847511"/>
            <a:ext cx="421719" cy="42171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544841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Litigation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793790" y="5797868"/>
            <a:ext cx="6431756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Litigation exposure</a:t>
            </a:r>
            <a:endParaRPr lang="en-US" sz="13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04735" y="4847511"/>
            <a:ext cx="421719" cy="42171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04735" y="5448419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Reputation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7404735" y="5797868"/>
            <a:ext cx="6431875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Public transparency and reputation sensitivity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793790" y="6208752"/>
            <a:ext cx="13042821" cy="898088"/>
          </a:xfrm>
          <a:prstGeom prst="roundRect">
            <a:avLst>
              <a:gd name="adj" fmla="val 7890"/>
            </a:avLst>
          </a:prstGeom>
          <a:solidFill>
            <a:srgbClr val="BBCDF7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382" y="6439614"/>
            <a:ext cx="210860" cy="16859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341834" y="6394252"/>
            <a:ext cx="1232618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Healthcare risk is exposure to patient harm, regulatory violation, financial loss, or reputational damage arising from clinical or operational activities.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793790" y="7268051"/>
            <a:ext cx="13042821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healthcare, risk failures directly impact human life.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5458"/>
            <a:ext cx="721780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 Categories in Healthcare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7237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risks typically fall into: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13152"/>
            <a:ext cx="4215289" cy="1158716"/>
          </a:xfrm>
          <a:prstGeom prst="roundRect">
            <a:avLst>
              <a:gd name="adj" fmla="val 719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35191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1. Clinical Risk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948351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harm during care delivery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313152"/>
            <a:ext cx="4215408" cy="1158716"/>
          </a:xfrm>
          <a:prstGeom prst="roundRect">
            <a:avLst>
              <a:gd name="adj" fmla="val 719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415" y="35191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2. Operational Risk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3948351"/>
            <a:ext cx="38034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Staffing, process, or system failures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313152"/>
            <a:ext cx="4215289" cy="1158716"/>
          </a:xfrm>
          <a:prstGeom prst="roundRect">
            <a:avLst>
              <a:gd name="adj" fmla="val 719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7181" y="351913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3. Financial Risk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3948351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cycle, reimbursement, fraud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695111"/>
            <a:ext cx="4215289" cy="1158716"/>
          </a:xfrm>
          <a:prstGeom prst="roundRect">
            <a:avLst>
              <a:gd name="adj" fmla="val 719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768" y="49010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4. Compliance Risk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9768" y="5330309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Regulatory breaches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07437" y="4695111"/>
            <a:ext cx="4215408" cy="1158716"/>
          </a:xfrm>
          <a:prstGeom prst="roundRect">
            <a:avLst>
              <a:gd name="adj" fmla="val 719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415" y="49010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5. Strategic Risk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413415" y="5330309"/>
            <a:ext cx="38034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Market competition, service expansion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21203" y="4695111"/>
            <a:ext cx="4215289" cy="1158716"/>
          </a:xfrm>
          <a:prstGeom prst="roundRect">
            <a:avLst>
              <a:gd name="adj" fmla="val 719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7181" y="49010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6. Reputational Risk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27181" y="5330309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Public trust and transparency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93790" y="607706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Effective ERM must integrate clinical governance with enterprise oversight.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503" y="551378"/>
            <a:ext cx="6344603" cy="616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Safety Framework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9503" y="1560671"/>
            <a:ext cx="13051393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safety is the foundation of healthcare risk management.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89503" y="2248614"/>
            <a:ext cx="2960608" cy="37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Core elements: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89503" y="2912983"/>
            <a:ext cx="6427589" cy="1181338"/>
          </a:xfrm>
          <a:prstGeom prst="roundRect">
            <a:avLst>
              <a:gd name="adj" fmla="val 928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6643" y="2912983"/>
            <a:ext cx="91440" cy="1181338"/>
          </a:xfrm>
          <a:prstGeom prst="roundRect">
            <a:avLst>
              <a:gd name="adj" fmla="val 90659"/>
            </a:avLst>
          </a:prstGeom>
          <a:solidFill>
            <a:srgbClr val="1B54DA"/>
          </a:solidFill>
          <a:ln/>
        </p:spPr>
      </p:sp>
      <p:sp>
        <p:nvSpPr>
          <p:cNvPr id="7" name="Text 5"/>
          <p:cNvSpPr/>
          <p:nvPr/>
        </p:nvSpPr>
        <p:spPr>
          <a:xfrm>
            <a:off x="1078230" y="3133130"/>
            <a:ext cx="246721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Just Culture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78230" y="3559254"/>
            <a:ext cx="591871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Encouraging reporting without blame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3308" y="2912983"/>
            <a:ext cx="6427589" cy="1181338"/>
          </a:xfrm>
          <a:prstGeom prst="roundRect">
            <a:avLst>
              <a:gd name="adj" fmla="val 928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0448" y="2912983"/>
            <a:ext cx="91440" cy="1181338"/>
          </a:xfrm>
          <a:prstGeom prst="roundRect">
            <a:avLst>
              <a:gd name="adj" fmla="val 90659"/>
            </a:avLst>
          </a:prstGeom>
          <a:solidFill>
            <a:srgbClr val="1B54DA"/>
          </a:solidFill>
          <a:ln/>
        </p:spPr>
      </p:sp>
      <p:sp>
        <p:nvSpPr>
          <p:cNvPr id="11" name="Text 9"/>
          <p:cNvSpPr/>
          <p:nvPr/>
        </p:nvSpPr>
        <p:spPr>
          <a:xfrm>
            <a:off x="7702034" y="3133130"/>
            <a:ext cx="246721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Safety Culture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02034" y="3559254"/>
            <a:ext cx="591871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Leadership prioritizing patient welfare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89503" y="4290536"/>
            <a:ext cx="6427589" cy="1181338"/>
          </a:xfrm>
          <a:prstGeom prst="roundRect">
            <a:avLst>
              <a:gd name="adj" fmla="val 928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6643" y="4290536"/>
            <a:ext cx="91440" cy="1181338"/>
          </a:xfrm>
          <a:prstGeom prst="roundRect">
            <a:avLst>
              <a:gd name="adj" fmla="val 90659"/>
            </a:avLst>
          </a:prstGeom>
          <a:solidFill>
            <a:srgbClr val="1B54DA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230" y="4510683"/>
            <a:ext cx="286726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Standardized Protocols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78230" y="4936808"/>
            <a:ext cx="591871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Consistent procedures across care settings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3308" y="4290536"/>
            <a:ext cx="6427589" cy="1181338"/>
          </a:xfrm>
          <a:prstGeom prst="roundRect">
            <a:avLst>
              <a:gd name="adj" fmla="val 9288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90448" y="4290536"/>
            <a:ext cx="91440" cy="1181338"/>
          </a:xfrm>
          <a:prstGeom prst="roundRect">
            <a:avLst>
              <a:gd name="adj" fmla="val 90659"/>
            </a:avLst>
          </a:prstGeom>
          <a:solidFill>
            <a:srgbClr val="1B54DA"/>
          </a:solidFill>
          <a:ln/>
        </p:spPr>
      </p:sp>
      <p:sp>
        <p:nvSpPr>
          <p:cNvPr id="19" name="Text 17"/>
          <p:cNvSpPr/>
          <p:nvPr/>
        </p:nvSpPr>
        <p:spPr>
          <a:xfrm>
            <a:off x="7702034" y="4510683"/>
            <a:ext cx="28391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Continuous Monitoring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02034" y="4936808"/>
            <a:ext cx="591871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Ongoing surveillance and improvement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89503" y="5692616"/>
            <a:ext cx="13051393" cy="835581"/>
          </a:xfrm>
          <a:prstGeom prst="roundRect">
            <a:avLst>
              <a:gd name="adj" fmla="val 9921"/>
            </a:avLst>
          </a:prstGeom>
          <a:solidFill>
            <a:srgbClr val="BBCDF7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790" y="5979914"/>
            <a:ext cx="246698" cy="19728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430774" y="5938123"/>
            <a:ext cx="12212836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 "just culture" balances accountability with system learning.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789503" y="6748939"/>
            <a:ext cx="1305139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Encouraging nurses to report near-misses without fear of punishment.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89503" y="7284601"/>
            <a:ext cx="13051393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safety is a system property, not an individual attribute.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8452"/>
            <a:ext cx="64309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Clinical Risk Management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1536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Clinical risk refers to potential harm during patient diagnosis, treatment, or care delivery.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3456146"/>
            <a:ext cx="6565106" cy="2254687"/>
          </a:xfrm>
          <a:prstGeom prst="roundRect">
            <a:avLst>
              <a:gd name="adj" fmla="val 6338"/>
            </a:avLst>
          </a:prstGeom>
          <a:solidFill>
            <a:srgbClr val="373B48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6545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Examples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4163020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Diagnostic delay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Miscommunication during handover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Failure to monitor deteriorating patient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Inadequate informed consent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6545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163020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Clinical pathways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Escalation protocols (e.g., rapid response teams)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Standardized documentation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Peer review committees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934075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Clinical risk management requires multidisciplinary oversight.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6529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Medication Safety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8220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Medication errors are among the most common adverse events.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1213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Risks include: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62985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Incorrect dosage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Wrong medication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Drug interactions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Look-alike/sound-alike drugs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1213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62985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Electronic prescribing systems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Barcode medication administration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Double-check protocols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Pharmacy reconciliation processes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5400913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BBCDF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688568"/>
            <a:ext cx="248007" cy="19835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8513" y="5648801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Medication reconciliation ensures medication lists are accurate during transitions of care.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3790" y="646735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Medication safety failures can lead to severe harm or death.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670" y="551378"/>
            <a:ext cx="4969193" cy="616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Infection Prevention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788670" y="1559481"/>
            <a:ext cx="13053060" cy="31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Healthcare-Associated Infections (HAIs) are preventable patient harms.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88670" y="2167771"/>
            <a:ext cx="3390662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Common HAIs include: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88670" y="2831306"/>
            <a:ext cx="4220408" cy="1812965"/>
          </a:xfrm>
          <a:prstGeom prst="roundRect">
            <a:avLst>
              <a:gd name="adj" fmla="val 45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3458" y="3036094"/>
            <a:ext cx="591503" cy="591503"/>
          </a:xfrm>
          <a:prstGeom prst="roundRect">
            <a:avLst>
              <a:gd name="adj" fmla="val 15457378"/>
            </a:avLst>
          </a:prstGeom>
          <a:solidFill>
            <a:srgbClr val="1B54D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6097" y="3198733"/>
            <a:ext cx="266105" cy="2661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3458" y="3823454"/>
            <a:ext cx="3810833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Central line-associated bloodstream infections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204936" y="2831306"/>
            <a:ext cx="4220408" cy="1812965"/>
          </a:xfrm>
          <a:prstGeom prst="roundRect">
            <a:avLst>
              <a:gd name="adj" fmla="val 45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09724" y="3036094"/>
            <a:ext cx="591503" cy="591503"/>
          </a:xfrm>
          <a:prstGeom prst="roundRect">
            <a:avLst>
              <a:gd name="adj" fmla="val 15457378"/>
            </a:avLst>
          </a:prstGeom>
          <a:solidFill>
            <a:srgbClr val="1B54D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72363" y="3198733"/>
            <a:ext cx="266105" cy="2661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9724" y="3823454"/>
            <a:ext cx="2757130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Surgical site infections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21203" y="2831306"/>
            <a:ext cx="4220528" cy="1812965"/>
          </a:xfrm>
          <a:prstGeom prst="roundRect">
            <a:avLst>
              <a:gd name="adj" fmla="val 45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25990" y="3036094"/>
            <a:ext cx="591503" cy="591503"/>
          </a:xfrm>
          <a:prstGeom prst="roundRect">
            <a:avLst>
              <a:gd name="adj" fmla="val 15457378"/>
            </a:avLst>
          </a:prstGeom>
          <a:solidFill>
            <a:srgbClr val="1B54D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8629" y="3198733"/>
            <a:ext cx="266105" cy="26610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5990" y="3823454"/>
            <a:ext cx="3810953" cy="616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Catheter-associated urinary tract infections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788670" y="4938117"/>
            <a:ext cx="2957870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788670" y="5601653"/>
            <a:ext cx="13053060" cy="1463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Sterile technique protocols</a:t>
            </a:r>
            <a:endParaRPr lang="en-US" sz="155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 hygiene compliance</a:t>
            </a:r>
            <a:endParaRPr lang="en-US" sz="155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Environmental cleaning audits</a:t>
            </a:r>
            <a:endParaRPr lang="en-US" sz="1550" dirty="0"/>
          </a:p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Isolation procedures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788670" y="7285196"/>
            <a:ext cx="13053060" cy="393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Infection control failures carry patient, regulatory, and financial consequences.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8061"/>
            <a:ext cx="66651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Surgical &amp; Procedural Risks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4497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Operating rooms are high-risk environments.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84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Risks include: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892629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Wrong-site surgery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Anesthesia complications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Retained surgical items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Equipment malfunction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421999" y="3185755"/>
            <a:ext cx="6565106" cy="2254687"/>
          </a:xfrm>
          <a:prstGeom prst="roundRect">
            <a:avLst>
              <a:gd name="adj" fmla="val 6338"/>
            </a:avLst>
          </a:prstGeom>
          <a:solidFill>
            <a:srgbClr val="373B48"/>
          </a:solidFill>
          <a:ln/>
        </p:spPr>
      </p:sp>
      <p:sp>
        <p:nvSpPr>
          <p:cNvPr id="7" name="Text 5"/>
          <p:cNvSpPr/>
          <p:nvPr/>
        </p:nvSpPr>
        <p:spPr>
          <a:xfrm>
            <a:off x="7620357" y="338411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620357" y="3892629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Surgical safety checklists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Time-out procedures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Instrument counts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Anesthesia monitoring standards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66368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WHO surgical safety checklist reduces procedural mortality.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3790" y="6204466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Procedural safety must be protocol-driven.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3781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Privacy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473875"/>
            <a:ext cx="130428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organizations manage sensitive personal health information (PHI).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892975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Risks include: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793790" y="2381131"/>
            <a:ext cx="6457950" cy="1055608"/>
          </a:xfrm>
          <a:prstGeom prst="roundRect">
            <a:avLst>
              <a:gd name="adj" fmla="val 631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6650" y="2403991"/>
            <a:ext cx="6412230" cy="476250"/>
          </a:xfrm>
          <a:prstGeom prst="roundRect">
            <a:avLst>
              <a:gd name="adj" fmla="val 8243"/>
            </a:avLst>
          </a:prstGeom>
          <a:solidFill>
            <a:srgbClr val="D2DDF9"/>
          </a:solidFill>
          <a:ln/>
        </p:spPr>
      </p:sp>
      <p:sp>
        <p:nvSpPr>
          <p:cNvPr id="7" name="Text 5"/>
          <p:cNvSpPr/>
          <p:nvPr/>
        </p:nvSpPr>
        <p:spPr>
          <a:xfrm>
            <a:off x="3903702" y="248947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975360" y="3007162"/>
            <a:ext cx="204537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Unauthorized access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78660" y="2381131"/>
            <a:ext cx="6457950" cy="1055608"/>
          </a:xfrm>
          <a:prstGeom prst="roundRect">
            <a:avLst>
              <a:gd name="adj" fmla="val 631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1520" y="2403991"/>
            <a:ext cx="6412230" cy="476250"/>
          </a:xfrm>
          <a:prstGeom prst="roundRect">
            <a:avLst>
              <a:gd name="adj" fmla="val 8243"/>
            </a:avLst>
          </a:prstGeom>
          <a:solidFill>
            <a:srgbClr val="D2DDF9"/>
          </a:solidFill>
          <a:ln/>
        </p:spPr>
      </p:sp>
      <p:sp>
        <p:nvSpPr>
          <p:cNvPr id="11" name="Text 9"/>
          <p:cNvSpPr/>
          <p:nvPr/>
        </p:nvSpPr>
        <p:spPr>
          <a:xfrm>
            <a:off x="10488573" y="248947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560231" y="300716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breaches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3563660"/>
            <a:ext cx="6457950" cy="1055608"/>
          </a:xfrm>
          <a:prstGeom prst="roundRect">
            <a:avLst>
              <a:gd name="adj" fmla="val 631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6650" y="3586520"/>
            <a:ext cx="6412230" cy="476250"/>
          </a:xfrm>
          <a:prstGeom prst="roundRect">
            <a:avLst>
              <a:gd name="adj" fmla="val 8243"/>
            </a:avLst>
          </a:prstGeom>
          <a:solidFill>
            <a:srgbClr val="D2DDF9"/>
          </a:solidFill>
          <a:ln/>
        </p:spPr>
      </p:sp>
      <p:sp>
        <p:nvSpPr>
          <p:cNvPr id="15" name="Text 13"/>
          <p:cNvSpPr/>
          <p:nvPr/>
        </p:nvSpPr>
        <p:spPr>
          <a:xfrm>
            <a:off x="3903702" y="367200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975360" y="4189690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Identity theft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378660" y="3563660"/>
            <a:ext cx="6457950" cy="1055608"/>
          </a:xfrm>
          <a:prstGeom prst="roundRect">
            <a:avLst>
              <a:gd name="adj" fmla="val 6317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1520" y="3586520"/>
            <a:ext cx="6412230" cy="476250"/>
          </a:xfrm>
          <a:prstGeom prst="roundRect">
            <a:avLst>
              <a:gd name="adj" fmla="val 8243"/>
            </a:avLst>
          </a:prstGeom>
          <a:solidFill>
            <a:srgbClr val="D2DDF9"/>
          </a:solidFill>
          <a:ln/>
        </p:spPr>
      </p:sp>
      <p:sp>
        <p:nvSpPr>
          <p:cNvPr id="19" name="Text 17"/>
          <p:cNvSpPr/>
          <p:nvPr/>
        </p:nvSpPr>
        <p:spPr>
          <a:xfrm>
            <a:off x="10488573" y="367200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560231" y="4189690"/>
            <a:ext cx="204180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Regulatory penalties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93790" y="4762143"/>
            <a:ext cx="13042821" cy="588764"/>
          </a:xfrm>
          <a:prstGeom prst="roundRect">
            <a:avLst>
              <a:gd name="adj" fmla="val 11327"/>
            </a:avLst>
          </a:prstGeom>
          <a:solidFill>
            <a:srgbClr val="BBCDF7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981575"/>
            <a:ext cx="198358" cy="15871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09568" y="4928711"/>
            <a:ext cx="123683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Protected Health Information (PHI) includes any identifiable patient data related to health status or treatment.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93790" y="5541407"/>
            <a:ext cx="238160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793790" y="6029563"/>
            <a:ext cx="13042821" cy="1047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Access control policies</a:t>
            </a:r>
            <a:endParaRPr lang="en-US" sz="125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Encryption</a:t>
            </a:r>
            <a:endParaRPr lang="en-US" sz="125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Audit logs</a:t>
            </a:r>
            <a:endParaRPr lang="en-US" sz="125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Privacy officer oversight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93790" y="7220069"/>
            <a:ext cx="1304282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breaches carry significant legal and reputational risk.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87454"/>
            <a:ext cx="68040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Cybersecurity in Healthcare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0436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systems are increasingly targeted by cybercriminals.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2195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Risks include: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70930" y="2866430"/>
            <a:ext cx="45720" cy="666036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1037868" y="2889290"/>
            <a:ext cx="393811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Ransomware attacks disrupting hospital systems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01126" y="2866430"/>
            <a:ext cx="45720" cy="666036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8" name="Text 6"/>
          <p:cNvSpPr/>
          <p:nvPr/>
        </p:nvSpPr>
        <p:spPr>
          <a:xfrm>
            <a:off x="5468064" y="2889290"/>
            <a:ext cx="309967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EHR system compromise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631442" y="2866430"/>
            <a:ext cx="45720" cy="666036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0" name="Text 8"/>
          <p:cNvSpPr/>
          <p:nvPr/>
        </p:nvSpPr>
        <p:spPr>
          <a:xfrm>
            <a:off x="9898380" y="2889290"/>
            <a:ext cx="36264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Medical device vulnerabilities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793790" y="3732848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BBCDF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4020503"/>
            <a:ext cx="248007" cy="1983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38513" y="398073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Electronic Health Records (EHR) are digital patient records requiring strict security controls.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3790" y="487370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93790" y="5543431"/>
            <a:ext cx="13042821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Network segmentation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Multi-factor authentication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Incident response plans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penetration testing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93790" y="7245072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Cyber incidents can disrupt patient care delivery.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8388"/>
            <a:ext cx="579691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 Assessment Matrix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0530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risk scoring considers: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94608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Likelihood × Severity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56627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Severity dimensions may include: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107061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768" y="43130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harm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104084" y="4107061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0063" y="43130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Legal exposure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414379" y="4107061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357" y="43130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Financial impact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724674" y="4107061"/>
            <a:ext cx="3111937" cy="1032272"/>
          </a:xfrm>
          <a:prstGeom prst="roundRect">
            <a:avLst>
              <a:gd name="adj" fmla="val 8075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30652" y="4313039"/>
            <a:ext cx="269998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Reputational damage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536257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 medication labeling error may have moderate likelihood but high severity.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59033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High-severity events require board-level visibility.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644413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Consistent scoring improves prioritization and mitigation tracking.</a:t>
            </a:r>
            <a:endParaRPr lang="en-US" sz="1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2827"/>
            <a:ext cx="66220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Incident Reporting System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2974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Incident reporting systems capture: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70522"/>
            <a:ext cx="4347567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32626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Adverse events</a:t>
            </a:r>
            <a:endParaRPr lang="en-US" sz="1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270522"/>
            <a:ext cx="4347567" cy="793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9715" y="32626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Near-misses</a:t>
            </a:r>
            <a:endParaRPr lang="en-US" sz="1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270522"/>
            <a:ext cx="4347567" cy="7937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7282" y="32626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Unsafe conditions</a:t>
            </a:r>
            <a:endParaRPr lang="en-US" sz="1950" dirty="0"/>
          </a:p>
        </p:txBody>
      </p:sp>
      <p:sp>
        <p:nvSpPr>
          <p:cNvPr id="10" name="Shape 5"/>
          <p:cNvSpPr/>
          <p:nvPr/>
        </p:nvSpPr>
        <p:spPr>
          <a:xfrm>
            <a:off x="793790" y="3994428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BBCDF7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4282083"/>
            <a:ext cx="248007" cy="1983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38513" y="4242316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 adverse event is unintended harm caused by medical care rather than the underlying condition.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793790" y="5135285"/>
            <a:ext cx="374963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Effective systems require: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793790" y="5805011"/>
            <a:ext cx="13042821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Anonymous reporting options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Timely review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Feedback loops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93790" y="711969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Learning depends on transparent reporting.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9497"/>
            <a:ext cx="4713684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Root Cause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686758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Root Cause Analysis (RCA) investigates systemic contributors to harm.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93790" y="2249567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Steps include: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2871549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453" y="2906851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97079" y="2936319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Define event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93790" y="3653909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4453" y="3689211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97079" y="3718679"/>
            <a:ext cx="2819757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Map sequence of events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793790" y="4436269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453" y="4471571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97079" y="4501039"/>
            <a:ext cx="329624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Identify contributing factors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793790" y="5218628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453" y="5253930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97079" y="5283398"/>
            <a:ext cx="264473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Determine root causes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793790" y="6000988"/>
            <a:ext cx="424220" cy="424220"/>
          </a:xfrm>
          <a:prstGeom prst="roundRect">
            <a:avLst>
              <a:gd name="adj" fmla="val 18668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453" y="6036290"/>
            <a:ext cx="28277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97079" y="6065758"/>
            <a:ext cx="3078956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Develop corrective actions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93790" y="6626662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Example:</a:t>
            </a:r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Wrong medication administered due to labeling confusion and shift fatigue.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93790" y="7122319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RCA must focus on system improvement, not blame.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4667"/>
            <a:ext cx="581525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Regulatory Compliance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615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organizations must comply with: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02362"/>
            <a:ext cx="6422231" cy="752594"/>
          </a:xfrm>
          <a:prstGeom prst="roundRect">
            <a:avLst>
              <a:gd name="adj" fmla="val 1458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702362"/>
            <a:ext cx="91440" cy="752594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2923580"/>
            <a:ext cx="26150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Licensing regulations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414379" y="2702362"/>
            <a:ext cx="6422231" cy="752594"/>
          </a:xfrm>
          <a:prstGeom prst="roundRect">
            <a:avLst>
              <a:gd name="adj" fmla="val 1458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702362"/>
            <a:ext cx="91440" cy="752594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923580"/>
            <a:ext cx="29634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Accreditation standards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93790" y="3653314"/>
            <a:ext cx="6422231" cy="752594"/>
          </a:xfrm>
          <a:prstGeom prst="roundRect">
            <a:avLst>
              <a:gd name="adj" fmla="val 1458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0930" y="3653314"/>
            <a:ext cx="91440" cy="752594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12" name="Text 10"/>
          <p:cNvSpPr/>
          <p:nvPr/>
        </p:nvSpPr>
        <p:spPr>
          <a:xfrm>
            <a:off x="1083588" y="3874532"/>
            <a:ext cx="39277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Health information privacy laws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7414379" y="3653314"/>
            <a:ext cx="6422231" cy="752594"/>
          </a:xfrm>
          <a:prstGeom prst="roundRect">
            <a:avLst>
              <a:gd name="adj" fmla="val 14580"/>
            </a:avLst>
          </a:prstGeom>
          <a:solidFill>
            <a:srgbClr val="F9F9FF"/>
          </a:solidFill>
          <a:ln w="22860">
            <a:solidFill>
              <a:srgbClr val="B8C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1519" y="3653314"/>
            <a:ext cx="91440" cy="752594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15" name="Text 13"/>
          <p:cNvSpPr/>
          <p:nvPr/>
        </p:nvSpPr>
        <p:spPr>
          <a:xfrm>
            <a:off x="7704177" y="3874532"/>
            <a:ext cx="35063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Infection control regulations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93790" y="4703564"/>
            <a:ext cx="590942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Non-compliance consequences include: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93790" y="5373291"/>
            <a:ext cx="13042821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Financial penalties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Loss of accreditation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Operational restrictions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668797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Compliance governance must be embedded in ERM.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8452"/>
            <a:ext cx="61396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Medical Malpractice Risk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1536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Medical malpractice risk arises from: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3456146"/>
            <a:ext cx="6565106" cy="2254687"/>
          </a:xfrm>
          <a:prstGeom prst="roundRect">
            <a:avLst>
              <a:gd name="adj" fmla="val 6338"/>
            </a:avLst>
          </a:prstGeom>
          <a:solidFill>
            <a:srgbClr val="373B48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6545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 Sources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4163020"/>
            <a:ext cx="6168390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Negligence claims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Failure to diagnose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Surgical errors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of informed consent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6545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163020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Documentation accuracy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Evidence-based practice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Communication training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Malpractice insurance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934075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Strong clinical governance reduces liability exposure.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5835"/>
            <a:ext cx="657082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Credentialing &amp; Privileging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1216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Credentialing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ensures provider qualifications meet standards.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08296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Privileging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defines scope of clinical practice.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2419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Risks include: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532709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Unverified qualifications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Expired licenses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Practicing beyond scope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0319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3540443"/>
            <a:ext cx="6279356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credential audits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Centralized provider database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Peer review oversight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916811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Competency assurance protects patient safety.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76382"/>
            <a:ext cx="5359837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Emergency Preparedness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390174"/>
            <a:ext cx="1304282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facilities must prepare for: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1801058"/>
            <a:ext cx="6449735" cy="1265277"/>
          </a:xfrm>
          <a:prstGeom prst="roundRect">
            <a:avLst>
              <a:gd name="adj" fmla="val 560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0002" y="1977271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1B54D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186" y="2116336"/>
            <a:ext cx="227647" cy="227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0002" y="2626638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Pandemics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386876" y="1801058"/>
            <a:ext cx="6449735" cy="1265277"/>
          </a:xfrm>
          <a:prstGeom prst="roundRect">
            <a:avLst>
              <a:gd name="adj" fmla="val 560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63088" y="1977271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1B54D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2272" y="2116336"/>
            <a:ext cx="227647" cy="2276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63088" y="2626638"/>
            <a:ext cx="216586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Mass casualty events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793790" y="3209687"/>
            <a:ext cx="6449735" cy="1265277"/>
          </a:xfrm>
          <a:prstGeom prst="roundRect">
            <a:avLst>
              <a:gd name="adj" fmla="val 560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70002" y="3385899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1B54D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186" y="3524964"/>
            <a:ext cx="227647" cy="2276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0002" y="4035266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Natural disasters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386876" y="3209687"/>
            <a:ext cx="6449735" cy="1265277"/>
          </a:xfrm>
          <a:prstGeom prst="roundRect">
            <a:avLst>
              <a:gd name="adj" fmla="val 5600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563088" y="3385899"/>
            <a:ext cx="506016" cy="506016"/>
          </a:xfrm>
          <a:prstGeom prst="roundRect">
            <a:avLst>
              <a:gd name="adj" fmla="val 18068768"/>
            </a:avLst>
          </a:prstGeom>
          <a:solidFill>
            <a:srgbClr val="1B54D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2272" y="3524964"/>
            <a:ext cx="227647" cy="2276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63088" y="4035266"/>
            <a:ext cx="2150269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Infrastructure failure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793790" y="4636175"/>
            <a:ext cx="13042821" cy="648414"/>
          </a:xfrm>
          <a:prstGeom prst="roundRect">
            <a:avLst>
              <a:gd name="adj" fmla="val 10927"/>
            </a:avLst>
          </a:prstGeom>
          <a:solidFill>
            <a:srgbClr val="BBCDF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382" y="4867037"/>
            <a:ext cx="210860" cy="16859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1834" y="4821674"/>
            <a:ext cx="1232618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Emergency preparedness includes surge capacity planning and continuity of care strategies.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93790" y="5499616"/>
            <a:ext cx="2530435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1950" dirty="0"/>
          </a:p>
        </p:txBody>
      </p:sp>
      <p:sp>
        <p:nvSpPr>
          <p:cNvPr id="24" name="Text 17"/>
          <p:cNvSpPr/>
          <p:nvPr/>
        </p:nvSpPr>
        <p:spPr>
          <a:xfrm>
            <a:off x="793790" y="6030873"/>
            <a:ext cx="1304282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Emergency operations plans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Drill simulations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Backup power systems</a:t>
            </a:r>
            <a:endParaRPr lang="en-US" sz="1300" dirty="0"/>
          </a:p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Stockpile management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93790" y="7341156"/>
            <a:ext cx="13042821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Preparedness determines resilience.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0008"/>
            <a:ext cx="56510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 Register Template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0369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risk registers should document: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577703"/>
            <a:ext cx="13042821" cy="4011573"/>
          </a:xfrm>
          <a:prstGeom prst="roundRect">
            <a:avLst>
              <a:gd name="adj" fmla="val 20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58532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887" y="2712006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Field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14705" y="2712006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Description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15622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887" y="3282910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Risk description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14705" y="3282910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Cause–Event–Impact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372713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9887" y="3853815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Inherent risk score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14705" y="3853815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Risk level before controls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29803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9887" y="4424720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Controls in place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14705" y="4424720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Current mitigation measures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486894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887" y="4995624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Residual risk score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14705" y="4995624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Risk level after controls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43984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9887" y="5566529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Responsible owner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14705" y="5566529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Accountable individual or team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01410" y="6010751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9887" y="6137434"/>
            <a:ext cx="481048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frequency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214705" y="6137434"/>
            <a:ext cx="741592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Scheduled reassessment cadence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93790" y="681251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Standardized documentation supports board oversight.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5084"/>
            <a:ext cx="81684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Quality Improvement Integration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4199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Risk management and quality improvement are interdependent.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25719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Examples: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70930" y="3926919"/>
            <a:ext cx="6443067" cy="4572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170998"/>
            <a:ext cx="43811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Incident Trends → Protocol Changes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600218"/>
            <a:ext cx="639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Using incident trends to drive protocol changes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6284" y="3926919"/>
            <a:ext cx="6443186" cy="4572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7439144" y="4170998"/>
            <a:ext cx="40527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Clinical Audits → Mitigation Plans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39144" y="4600218"/>
            <a:ext cx="639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Linking clinical audit results to mitigation plans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5141000"/>
            <a:ext cx="13042821" cy="843201"/>
          </a:xfrm>
          <a:prstGeom prst="roundRect">
            <a:avLst>
              <a:gd name="adj" fmla="val 9886"/>
            </a:avLst>
          </a:prstGeom>
          <a:solidFill>
            <a:srgbClr val="BBCDF7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428655"/>
            <a:ext cx="248007" cy="19835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38513" y="5388888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Definition: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Continuous Quality Improvement (CQI) systematically improves patient outcomes through iterative evaluation.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93790" y="6207443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Integrated governance reduces duplication and silos.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837"/>
            <a:ext cx="70465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Staff Training &amp; Competency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097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Human error contributes significantly to adverse events.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4249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Controls: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793790" y="3392329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9F9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369469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7" name="Shape 5"/>
          <p:cNvSpPr/>
          <p:nvPr/>
        </p:nvSpPr>
        <p:spPr>
          <a:xfrm>
            <a:off x="3707249" y="309467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sp>
        <p:nvSpPr>
          <p:cNvPr id="8" name="Text 6"/>
          <p:cNvSpPr/>
          <p:nvPr/>
        </p:nvSpPr>
        <p:spPr>
          <a:xfrm>
            <a:off x="3885843" y="324350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15008" y="3888462"/>
            <a:ext cx="32256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Simulation-based training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15008" y="431768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Hands-on practice in controlled environments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3392329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9F9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14379" y="3369469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27838" y="3094673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06432" y="3243501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635597" y="3888462"/>
            <a:ext cx="31894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Competency assessments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7635597" y="4317683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evaluation of clinical skills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93790" y="5352455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9F9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93790" y="5329595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19" name="Shape 17"/>
          <p:cNvSpPr/>
          <p:nvPr/>
        </p:nvSpPr>
        <p:spPr>
          <a:xfrm>
            <a:off x="3707249" y="505479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sp>
        <p:nvSpPr>
          <p:cNvPr id="20" name="Text 18"/>
          <p:cNvSpPr/>
          <p:nvPr/>
        </p:nvSpPr>
        <p:spPr>
          <a:xfrm>
            <a:off x="3885843" y="520362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015008" y="5848588"/>
            <a:ext cx="35118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Annual certification updates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15008" y="627780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Keeping credentials current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414379" y="5352455"/>
            <a:ext cx="6422231" cy="1464112"/>
          </a:xfrm>
          <a:prstGeom prst="roundRect">
            <a:avLst>
              <a:gd name="adj" fmla="val 7495"/>
            </a:avLst>
          </a:prstGeom>
          <a:solidFill>
            <a:srgbClr val="F9F9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414379" y="5329595"/>
            <a:ext cx="6422231" cy="91440"/>
          </a:xfrm>
          <a:prstGeom prst="roundRect">
            <a:avLst>
              <a:gd name="adj" fmla="val 91163"/>
            </a:avLst>
          </a:prstGeom>
          <a:solidFill>
            <a:srgbClr val="1B54D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27838" y="5054798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54D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06432" y="520362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7635597" y="5848588"/>
            <a:ext cx="268104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Fatigue management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7635597" y="6277808"/>
            <a:ext cx="59797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Addressing burnout and shift scheduling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93790" y="7039808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Ongoing education strengthens clinical reliability.</a:t>
            </a:r>
            <a:endParaRPr lang="en-US" sz="1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5147"/>
            <a:ext cx="650343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Vendor &amp; Third-Party Risks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9206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depends on: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32842"/>
            <a:ext cx="6422231" cy="722114"/>
          </a:xfrm>
          <a:prstGeom prst="roundRect">
            <a:avLst>
              <a:gd name="adj" fmla="val 6596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2938820"/>
            <a:ext cx="301609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Medical device suppliers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414379" y="2732842"/>
            <a:ext cx="6422231" cy="722114"/>
          </a:xfrm>
          <a:prstGeom prst="roundRect">
            <a:avLst>
              <a:gd name="adj" fmla="val 6596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20357" y="29388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IT vendors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93790" y="3653314"/>
            <a:ext cx="6422231" cy="722114"/>
          </a:xfrm>
          <a:prstGeom prst="roundRect">
            <a:avLst>
              <a:gd name="adj" fmla="val 6596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9768" y="3859292"/>
            <a:ext cx="315991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Pharmaceutical providers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414379" y="3653314"/>
            <a:ext cx="6422231" cy="722114"/>
          </a:xfrm>
          <a:prstGeom prst="roundRect">
            <a:avLst>
              <a:gd name="adj" fmla="val 6596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357" y="3859292"/>
            <a:ext cx="35725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Outsourced service providers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93790" y="467308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Risks include: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93790" y="5342811"/>
            <a:ext cx="13042821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Supply disruption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Defective devices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 breaches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6657499"/>
            <a:ext cx="13042821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Vendor oversight requires contractual, technical, and operational monitoring.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68762"/>
            <a:ext cx="6301740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Implementation Roadmap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902" y="1516023"/>
            <a:ext cx="12390596" cy="55756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86365" y="1456081"/>
            <a:ext cx="2168326" cy="67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Gap Assessment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2986365" y="2221548"/>
            <a:ext cx="2168326" cy="78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 current risk and compliance gaps</a:t>
            </a:r>
            <a:endParaRPr lang="en-US" sz="1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6346" y="3266619"/>
            <a:ext cx="480279" cy="4802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30864" y="5805393"/>
            <a:ext cx="2180240" cy="33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Patient Safety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130864" y="6235782"/>
            <a:ext cx="2180240" cy="784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Strengthen incident reporting and response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0845" y="5017960"/>
            <a:ext cx="480279" cy="480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51535" y="1712602"/>
            <a:ext cx="2168326" cy="33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Risk Matrix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251535" y="2142991"/>
            <a:ext cx="2168326" cy="5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Standardize scoring and prioritization</a:t>
            </a:r>
            <a:endParaRPr lang="en-US" sz="16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37258" y="3218964"/>
            <a:ext cx="480279" cy="4802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96034" y="5936073"/>
            <a:ext cx="2168326" cy="33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Integration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9396034" y="6366462"/>
            <a:ext cx="2168326" cy="5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Align quality and risk processes</a:t>
            </a:r>
            <a:endParaRPr lang="en-US" sz="1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46015" y="5017960"/>
            <a:ext cx="480279" cy="48027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3790" y="7293173"/>
            <a:ext cx="13042821" cy="367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Executive sponsorship and medical leadership alignment are critical.</a:t>
            </a:r>
            <a:endParaRPr lang="en-US" sz="1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548878"/>
            <a:ext cx="5066943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Summary &amp; Next Steps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87241" y="1418749"/>
            <a:ext cx="13055918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Healthcare risk management must: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87241" y="1864757"/>
            <a:ext cx="3145393" cy="1612463"/>
          </a:xfrm>
          <a:prstGeom prst="roundRect">
            <a:avLst>
              <a:gd name="adj" fmla="val 461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1907" y="2049423"/>
            <a:ext cx="531376" cy="531376"/>
          </a:xfrm>
          <a:prstGeom prst="roundRect">
            <a:avLst>
              <a:gd name="adj" fmla="val 17206433"/>
            </a:avLst>
          </a:prstGeom>
          <a:solidFill>
            <a:srgbClr val="1B54D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7997" y="2195513"/>
            <a:ext cx="239078" cy="2390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1907" y="2738914"/>
            <a:ext cx="237589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Protect patient safety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090749" y="1864757"/>
            <a:ext cx="3145393" cy="1612463"/>
          </a:xfrm>
          <a:prstGeom prst="roundRect">
            <a:avLst>
              <a:gd name="adj" fmla="val 461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75415" y="2049423"/>
            <a:ext cx="531376" cy="531376"/>
          </a:xfrm>
          <a:prstGeom prst="roundRect">
            <a:avLst>
              <a:gd name="adj" fmla="val 17206433"/>
            </a:avLst>
          </a:prstGeom>
          <a:solidFill>
            <a:srgbClr val="1B54D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1505" y="2195513"/>
            <a:ext cx="239078" cy="23907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75415" y="2738914"/>
            <a:ext cx="277606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Strengthen clinical governance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94258" y="1864757"/>
            <a:ext cx="3145393" cy="1612463"/>
          </a:xfrm>
          <a:prstGeom prst="roundRect">
            <a:avLst>
              <a:gd name="adj" fmla="val 461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578923" y="2049423"/>
            <a:ext cx="531376" cy="531376"/>
          </a:xfrm>
          <a:prstGeom prst="roundRect">
            <a:avLst>
              <a:gd name="adj" fmla="val 17206433"/>
            </a:avLst>
          </a:prstGeom>
          <a:solidFill>
            <a:srgbClr val="1B54D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5013" y="2195513"/>
            <a:ext cx="239078" cy="2390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78923" y="2738914"/>
            <a:ext cx="277606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Ensure regulatory compliance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10697766" y="1864757"/>
            <a:ext cx="3145393" cy="1612463"/>
          </a:xfrm>
          <a:prstGeom prst="roundRect">
            <a:avLst>
              <a:gd name="adj" fmla="val 4614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882432" y="2049423"/>
            <a:ext cx="531376" cy="531376"/>
          </a:xfrm>
          <a:prstGeom prst="roundRect">
            <a:avLst>
              <a:gd name="adj" fmla="val 17206433"/>
            </a:avLst>
          </a:prstGeom>
          <a:solidFill>
            <a:srgbClr val="1B54DA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28521" y="2195513"/>
            <a:ext cx="239078" cy="23907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882432" y="2738914"/>
            <a:ext cx="221432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Secure health data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787241" y="3635335"/>
            <a:ext cx="6448901" cy="1335643"/>
          </a:xfrm>
          <a:prstGeom prst="roundRect">
            <a:avLst>
              <a:gd name="adj" fmla="val 55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71907" y="3820001"/>
            <a:ext cx="531376" cy="531376"/>
          </a:xfrm>
          <a:prstGeom prst="roundRect">
            <a:avLst>
              <a:gd name="adj" fmla="val 17206433"/>
            </a:avLst>
          </a:prstGeom>
          <a:solidFill>
            <a:srgbClr val="1B54DA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7997" y="3966091"/>
            <a:ext cx="239078" cy="2390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71907" y="4509492"/>
            <a:ext cx="327314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Reduce malpractice exposure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7394258" y="3635335"/>
            <a:ext cx="6448901" cy="1335643"/>
          </a:xfrm>
          <a:prstGeom prst="roundRect">
            <a:avLst>
              <a:gd name="adj" fmla="val 5571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578923" y="3820001"/>
            <a:ext cx="531376" cy="531376"/>
          </a:xfrm>
          <a:prstGeom prst="roundRect">
            <a:avLst>
              <a:gd name="adj" fmla="val 17206433"/>
            </a:avLst>
          </a:prstGeom>
          <a:solidFill>
            <a:srgbClr val="1B54DA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25013" y="3966091"/>
            <a:ext cx="239078" cy="23907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578923" y="4509492"/>
            <a:ext cx="36957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Integrate quality and risk systems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787241" y="5208151"/>
            <a:ext cx="265723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Immediate Actions:</a:t>
            </a:r>
            <a:endParaRPr lang="en-US" sz="20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3678" y="5783044"/>
            <a:ext cx="265628" cy="26562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62789" y="5777508"/>
            <a:ext cx="373487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Review top clinical adverse events</a:t>
            </a:r>
            <a:endParaRPr lang="en-US" sz="17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80459" y="5783044"/>
            <a:ext cx="265628" cy="26562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989570" y="5777508"/>
            <a:ext cx="334029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Assess cybersecurity resilience</a:t>
            </a:r>
            <a:endParaRPr lang="en-US" sz="17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3678" y="6636127"/>
            <a:ext cx="265628" cy="26562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362789" y="6630591"/>
            <a:ext cx="326338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Audit credentialing processes</a:t>
            </a:r>
            <a:endParaRPr lang="en-US" sz="17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80459" y="6636127"/>
            <a:ext cx="265628" cy="26562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989570" y="6630591"/>
            <a:ext cx="408479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Strengthen board-level risk reporting</a:t>
            </a:r>
            <a:endParaRPr lang="en-US" sz="1700" dirty="0"/>
          </a:p>
        </p:txBody>
      </p:sp>
      <p:sp>
        <p:nvSpPr>
          <p:cNvPr id="37" name="Text 25"/>
          <p:cNvSpPr/>
          <p:nvPr/>
        </p:nvSpPr>
        <p:spPr>
          <a:xfrm>
            <a:off x="787241" y="7345323"/>
            <a:ext cx="13055918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373B48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Patient safety is the ultimate measure of healthcare governance effectiveness.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834283"/>
            <a:ext cx="740331" cy="373142"/>
          </a:xfrm>
          <a:prstGeom prst="roundRect">
            <a:avLst>
              <a:gd name="adj" fmla="val 17872"/>
            </a:avLst>
          </a:prstGeom>
          <a:solidFill>
            <a:srgbClr val="D2DDF9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2893814"/>
            <a:ext cx="50220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LEGAL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28672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Property Notice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204454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presentation is the intellectual property of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Phumi Mhlongo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and </a:t>
            </a:r>
            <a:pPr algn="l" indent="0" marL="0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Nozipho Mememla</a:t>
            </a:r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 All rights reserved. Unauthorized reproduction, redistribution, or commercial use is strictly prohibited without prior written consent.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826663"/>
            <a:ext cx="1219795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5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0472" y="2893814"/>
            <a:ext cx="96643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IMPORTANT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29434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Disclaimer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212074"/>
            <a:ext cx="13042821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material is provided for educational and professional purposes only. Healthcare organizations must apply independent professional judgment and comply with applicable regulatory and accreditation requirements when implementing risk management frameworks.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2026-02-27T07:29:44Z</dcterms:created>
  <dcterms:modified xsi:type="dcterms:W3CDTF">2026-02-27T07:29:44Z</dcterms:modified>
</cp:coreProperties>
</file>