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8229600"/>
  <p:notesSz cx="8229600" cy="14630400"/>
  <p:embeddedFontLst>
    <p:embeddedFont>
      <p:font typeface="Host Grotesk Medium"/>
      <p:regular r:id="rId27"/>
    </p:embeddedFont>
    <p:embeddedFont>
      <p:font typeface="Host Grotesk Medium"/>
      <p:regular r:id="rId28"/>
    </p:embeddedFont>
    <p:embeddedFont>
      <p:font typeface="Host Grotesk Medium"/>
      <p:regular r:id="rId29"/>
    </p:embeddedFont>
    <p:embeddedFont>
      <p:font typeface="Host Grotesk Medium"/>
      <p:regular r:id="rId30"/>
    </p:embeddedFont>
    <p:embeddedFont>
      <p:font typeface="Roboto"/>
      <p:regular r:id="rId31"/>
    </p:embeddedFont>
    <p:embeddedFont>
      <p:font typeface="Roboto"/>
      <p:regular r:id="rId32"/>
    </p:embeddedFont>
    <p:embeddedFont>
      <p:font typeface="Roboto"/>
      <p:regular r:id="rId33"/>
    </p:embeddedFont>
    <p:embeddedFont>
      <p:font typeface="Roboto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sv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slideLayout" Target="../slideLayouts/slideLayout8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svg"/><Relationship Id="rId16" Type="http://schemas.openxmlformats.org/officeDocument/2006/relationships/slideLayout" Target="../slideLayouts/slideLayout9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sv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sv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slideLayout" Target="../slideLayouts/slideLayout16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8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65834"/>
            <a:ext cx="66860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7EB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ISO 31000:2018 International Risk Management Standard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3255288"/>
            <a:ext cx="1295757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ISO 31000: A Framework for Effective Risk Management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4173022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 ISO 31000:2018 International Risk Management Standard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768453"/>
            <a:ext cx="1304282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Prepared by: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Phumi Mhlongo &amp; Nozipho Memela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Date: [Insert Date]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4043"/>
            <a:ext cx="506360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Presentation Overview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3095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45281"/>
            <a:ext cx="6422231" cy="2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390180"/>
            <a:ext cx="417945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Why Organizations Need ISO 31000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414379" y="193095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379" y="2245281"/>
            <a:ext cx="6422231" cy="228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14379" y="2390180"/>
            <a:ext cx="256270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Benefits of ISO 31000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93790" y="304752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42084"/>
            <a:ext cx="6422231" cy="228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35067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Characteristics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414379" y="304752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379" y="3342084"/>
            <a:ext cx="6422231" cy="228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14379" y="35067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Framework Structure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93790" y="416409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05</a:t>
            </a:r>
            <a:endParaRPr lang="en-US" sz="1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438769"/>
            <a:ext cx="6422231" cy="228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3790" y="4623316"/>
            <a:ext cx="260985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Six Core Principles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7414379" y="416409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06</a:t>
            </a:r>
            <a:endParaRPr lang="en-US" sz="15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4379" y="4438769"/>
            <a:ext cx="6422231" cy="228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14379" y="4623316"/>
            <a:ext cx="30041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Management Process</a:t>
            </a:r>
            <a:endParaRPr lang="en-US" sz="1950" dirty="0"/>
          </a:p>
        </p:txBody>
      </p:sp>
      <p:sp>
        <p:nvSpPr>
          <p:cNvPr id="21" name="Text 13"/>
          <p:cNvSpPr/>
          <p:nvPr/>
        </p:nvSpPr>
        <p:spPr>
          <a:xfrm>
            <a:off x="793790" y="528066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07</a:t>
            </a:r>
            <a:endParaRPr lang="en-US" sz="15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535573"/>
            <a:ext cx="6422231" cy="228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93790" y="5739884"/>
            <a:ext cx="264533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Treatment Options</a:t>
            </a:r>
            <a:endParaRPr lang="en-US" sz="1950" dirty="0"/>
          </a:p>
        </p:txBody>
      </p:sp>
      <p:sp>
        <p:nvSpPr>
          <p:cNvPr id="24" name="Text 15"/>
          <p:cNvSpPr/>
          <p:nvPr/>
        </p:nvSpPr>
        <p:spPr>
          <a:xfrm>
            <a:off x="7414379" y="528066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08</a:t>
            </a:r>
            <a:endParaRPr lang="en-US" sz="15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4379" y="5535573"/>
            <a:ext cx="6422231" cy="2286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414379" y="5739884"/>
            <a:ext cx="296251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ISO 31000 vs COSO ERM</a:t>
            </a:r>
            <a:endParaRPr lang="en-US" sz="1950" dirty="0"/>
          </a:p>
        </p:txBody>
      </p:sp>
      <p:sp>
        <p:nvSpPr>
          <p:cNvPr id="27" name="Text 17"/>
          <p:cNvSpPr/>
          <p:nvPr/>
        </p:nvSpPr>
        <p:spPr>
          <a:xfrm>
            <a:off x="793790" y="639722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09</a:t>
            </a:r>
            <a:endParaRPr lang="en-US" sz="15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90" y="6632258"/>
            <a:ext cx="6422231" cy="2286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93790" y="6856452"/>
            <a:ext cx="382535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Best Practices for Implementation</a:t>
            </a:r>
            <a:endParaRPr lang="en-US" sz="1950" dirty="0"/>
          </a:p>
        </p:txBody>
      </p:sp>
      <p:sp>
        <p:nvSpPr>
          <p:cNvPr id="30" name="Text 19"/>
          <p:cNvSpPr/>
          <p:nvPr/>
        </p:nvSpPr>
        <p:spPr>
          <a:xfrm>
            <a:off x="7414379" y="639722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10</a:t>
            </a:r>
            <a:endParaRPr lang="en-US" sz="15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4379" y="6632258"/>
            <a:ext cx="6422231" cy="228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414379" y="6856452"/>
            <a:ext cx="26753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Summary &amp; Next Steps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0350"/>
            <a:ext cx="417945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7EB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Why Organizations Need ISO 31000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223980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Business Case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650915" y="3157538"/>
            <a:ext cx="6565106" cy="2175153"/>
          </a:xfrm>
          <a:prstGeom prst="roundRect">
            <a:avLst>
              <a:gd name="adj" fmla="val 6570"/>
            </a:avLst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849273" y="33558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Organizations face: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49273" y="3864412"/>
            <a:ext cx="6168390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uncertainty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complexity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 and operational risk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Stakeholder scrutiny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355896"/>
            <a:ext cx="42591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Without structured risk management: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3864412"/>
            <a:ext cx="6279356" cy="1031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decisions are inconsistent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 becomes reactive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 and risk become disconnected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5555933"/>
            <a:ext cx="13042821" cy="823317"/>
          </a:xfrm>
          <a:prstGeom prst="roundRect">
            <a:avLst>
              <a:gd name="adj" fmla="val 10125"/>
            </a:avLst>
          </a:prstGeom>
          <a:solidFill>
            <a:srgbClr val="C6E4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843588"/>
            <a:ext cx="248007" cy="19835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38513" y="5803821"/>
            <a:ext cx="121997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31000 provides a globally recognized framework to manage uncertainty systematically.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5148"/>
            <a:ext cx="256270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7EB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Benefits of ISO 31000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57460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Advantages</a:t>
            </a:r>
            <a:endParaRPr lang="en-US" sz="3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492335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236476"/>
            <a:ext cx="28697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Improves decision quality</a:t>
            </a:r>
            <a:endParaRPr lang="en-US" sz="1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2492335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9144" y="3236476"/>
            <a:ext cx="27415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Aligns risk with strategy</a:t>
            </a:r>
            <a:endParaRPr lang="en-US" sz="1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3943469"/>
            <a:ext cx="496133" cy="49613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3790" y="4687610"/>
            <a:ext cx="36186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Enhances governance oversight</a:t>
            </a:r>
            <a:endParaRPr lang="en-US" sz="1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144" y="3943469"/>
            <a:ext cx="496133" cy="49613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39144" y="4687610"/>
            <a:ext cx="48433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Promotes consistency across departments</a:t>
            </a:r>
            <a:endParaRPr lang="en-US" sz="1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394603"/>
            <a:ext cx="496133" cy="49613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93790" y="6138743"/>
            <a:ext cx="25034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Strengthens resilience</a:t>
            </a:r>
            <a:endParaRPr lang="en-US" sz="19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39144" y="5394603"/>
            <a:ext cx="496133" cy="49613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439144" y="6138743"/>
            <a:ext cx="338851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Builds stakeholder confidence</a:t>
            </a:r>
            <a:endParaRPr lang="en-US" sz="1950" dirty="0"/>
          </a:p>
        </p:txBody>
      </p:sp>
      <p:sp>
        <p:nvSpPr>
          <p:cNvPr id="16" name="Text 8"/>
          <p:cNvSpPr/>
          <p:nvPr/>
        </p:nvSpPr>
        <p:spPr>
          <a:xfrm>
            <a:off x="793790" y="6672143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31000 supports both </a:t>
            </a:r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007E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 protection</a:t>
            </a:r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007E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 creation</a:t>
            </a:r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1560"/>
            <a:ext cx="38547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7EB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Characteristics of ISO 31000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2391013"/>
            <a:ext cx="72391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What Makes ISO 31000 Unique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793790" y="3308747"/>
            <a:ext cx="4215289" cy="1062752"/>
          </a:xfrm>
          <a:prstGeom prst="roundRect">
            <a:avLst>
              <a:gd name="adj" fmla="val 10325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30" y="3308747"/>
            <a:ext cx="91440" cy="1062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3588" y="3529965"/>
            <a:ext cx="37042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Principles-based (not rules-based)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5207437" y="3308747"/>
            <a:ext cx="4215408" cy="1062752"/>
          </a:xfrm>
          <a:prstGeom prst="roundRect">
            <a:avLst>
              <a:gd name="adj" fmla="val 10325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577" y="3308747"/>
            <a:ext cx="91440" cy="1062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97235" y="35299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Flexible and scalable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9621203" y="3308747"/>
            <a:ext cx="4215289" cy="1062752"/>
          </a:xfrm>
          <a:prstGeom prst="roundRect">
            <a:avLst>
              <a:gd name="adj" fmla="val 10325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8343" y="3308747"/>
            <a:ext cx="91440" cy="10627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911001" y="3529965"/>
            <a:ext cx="315194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Applicable across industries</a:t>
            </a:r>
            <a:endParaRPr lang="en-US" sz="1950" dirty="0"/>
          </a:p>
        </p:txBody>
      </p:sp>
      <p:sp>
        <p:nvSpPr>
          <p:cNvPr id="13" name="Shape 8"/>
          <p:cNvSpPr/>
          <p:nvPr/>
        </p:nvSpPr>
        <p:spPr>
          <a:xfrm>
            <a:off x="793790" y="4569857"/>
            <a:ext cx="4215289" cy="1062752"/>
          </a:xfrm>
          <a:prstGeom prst="roundRect">
            <a:avLst>
              <a:gd name="adj" fmla="val 10325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30" y="4569857"/>
            <a:ext cx="91440" cy="10627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83588" y="4791075"/>
            <a:ext cx="37042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Focused on integration into decision-making</a:t>
            </a:r>
            <a:endParaRPr lang="en-US" sz="1950" dirty="0"/>
          </a:p>
        </p:txBody>
      </p:sp>
      <p:sp>
        <p:nvSpPr>
          <p:cNvPr id="16" name="Shape 10"/>
          <p:cNvSpPr/>
          <p:nvPr/>
        </p:nvSpPr>
        <p:spPr>
          <a:xfrm>
            <a:off x="5207437" y="4569857"/>
            <a:ext cx="4215408" cy="1062752"/>
          </a:xfrm>
          <a:prstGeom prst="roundRect">
            <a:avLst>
              <a:gd name="adj" fmla="val 10325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577" y="4569857"/>
            <a:ext cx="91440" cy="10627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97235" y="4791075"/>
            <a:ext cx="370439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Emphasizes continual improvement</a:t>
            </a:r>
            <a:endParaRPr lang="en-US" sz="1950" dirty="0"/>
          </a:p>
        </p:txBody>
      </p:sp>
      <p:sp>
        <p:nvSpPr>
          <p:cNvPr id="19" name="Text 12"/>
          <p:cNvSpPr/>
          <p:nvPr/>
        </p:nvSpPr>
        <p:spPr>
          <a:xfrm>
            <a:off x="793790" y="5855851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is a guidance standard — not a certification.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6646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7EB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Framework Structure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793790" y="1063823"/>
            <a:ext cx="4181356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Three Core Components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3790" y="1696403"/>
            <a:ext cx="13042821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31000 consists of: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017157"/>
            <a:ext cx="4347567" cy="5953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2618" y="272403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Principles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42618" y="3023473"/>
            <a:ext cx="4049911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Guide design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2017157"/>
            <a:ext cx="4347567" cy="5953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90185" y="272403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Framework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290185" y="3023473"/>
            <a:ext cx="4049911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Embeds governance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2017157"/>
            <a:ext cx="4347567" cy="5953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37752" y="272403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Process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9637752" y="3023473"/>
            <a:ext cx="4049911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risk management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793790" y="3493056"/>
            <a:ext cx="13042821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operate together: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763" y="3813810"/>
            <a:ext cx="4714875" cy="3629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99635" y="4067448"/>
            <a:ext cx="2024822" cy="275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Principles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6293008" y="6913935"/>
            <a:ext cx="2024822" cy="275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Framework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7505944" y="4067448"/>
            <a:ext cx="2024822" cy="275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Process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0554"/>
            <a:ext cx="260985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7EB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Six Core Principles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010007"/>
            <a:ext cx="927877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ISO 31000:2018 Foundational Principles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1927741"/>
            <a:ext cx="1304282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31000:2018 identifies six foundational principles: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2353389" y="29551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Integrated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48639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7641" y="3198912"/>
            <a:ext cx="296942" cy="2969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95986" y="2955131"/>
            <a:ext cx="32831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Structured &amp; Comprehensive</a:t>
            </a:r>
            <a:endParaRPr lang="en-US" sz="1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48639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5460" y="3198912"/>
            <a:ext cx="296942" cy="2969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94463" y="45759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Customized</a:t>
            </a:r>
            <a:endParaRPr lang="en-US" sz="1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48639"/>
            <a:ext cx="4564975" cy="4564975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64250" y="4582537"/>
            <a:ext cx="296942" cy="29694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795986" y="61968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Inclusive</a:t>
            </a:r>
            <a:endParaRPr lang="en-US" sz="19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448639"/>
            <a:ext cx="4564975" cy="4564975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65460" y="5966162"/>
            <a:ext cx="296942" cy="296942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2353389" y="61968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Dynamic</a:t>
            </a:r>
            <a:endParaRPr lang="en-US" sz="195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2653" y="2448639"/>
            <a:ext cx="4564975" cy="4564975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67641" y="5966162"/>
            <a:ext cx="296942" cy="296942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1709261" y="4575929"/>
            <a:ext cx="29265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Best Available Information</a:t>
            </a:r>
            <a:endParaRPr lang="en-US" sz="1950" dirty="0"/>
          </a:p>
        </p:txBody>
      </p:sp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32653" y="2448639"/>
            <a:ext cx="4564975" cy="4564975"/>
          </a:xfrm>
          <a:prstGeom prst="rect">
            <a:avLst/>
          </a:prstGeom>
        </p:spPr>
      </p:pic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68851" y="4582537"/>
            <a:ext cx="296942" cy="296942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793790" y="7236857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principles ensure risk management delivers value.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29521"/>
            <a:ext cx="1143357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989052"/>
            <a:ext cx="905232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PRINCIPLE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36612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Integrated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283857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management is integrated into: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2879288"/>
            <a:ext cx="4215289" cy="1515785"/>
          </a:xfrm>
          <a:prstGeom prst="roundRect">
            <a:avLst>
              <a:gd name="adj" fmla="val 549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68" y="3085267"/>
            <a:ext cx="595313" cy="59531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479" y="3248858"/>
            <a:ext cx="267891" cy="2678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9768" y="38789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Governance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5207437" y="2879288"/>
            <a:ext cx="4215408" cy="1515785"/>
          </a:xfrm>
          <a:prstGeom prst="roundRect">
            <a:avLst>
              <a:gd name="adj" fmla="val 549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415" y="3085267"/>
            <a:ext cx="595313" cy="595313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126" y="3248858"/>
            <a:ext cx="267891" cy="2678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13415" y="38789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Strategy</a:t>
            </a:r>
            <a:endParaRPr lang="en-US" sz="1950" dirty="0"/>
          </a:p>
        </p:txBody>
      </p:sp>
      <p:sp>
        <p:nvSpPr>
          <p:cNvPr id="14" name="Shape 8"/>
          <p:cNvSpPr/>
          <p:nvPr/>
        </p:nvSpPr>
        <p:spPr>
          <a:xfrm>
            <a:off x="9621203" y="2879288"/>
            <a:ext cx="4215289" cy="1515785"/>
          </a:xfrm>
          <a:prstGeom prst="roundRect">
            <a:avLst>
              <a:gd name="adj" fmla="val 549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7181" y="3085267"/>
            <a:ext cx="595313" cy="595313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90892" y="3248858"/>
            <a:ext cx="267891" cy="26789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27181" y="38789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Planning</a:t>
            </a:r>
            <a:endParaRPr lang="en-US" sz="1950" dirty="0"/>
          </a:p>
        </p:txBody>
      </p:sp>
      <p:sp>
        <p:nvSpPr>
          <p:cNvPr id="18" name="Shape 10"/>
          <p:cNvSpPr/>
          <p:nvPr/>
        </p:nvSpPr>
        <p:spPr>
          <a:xfrm>
            <a:off x="793790" y="4593431"/>
            <a:ext cx="6422112" cy="1515785"/>
          </a:xfrm>
          <a:prstGeom prst="roundRect">
            <a:avLst>
              <a:gd name="adj" fmla="val 549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9768" y="4799409"/>
            <a:ext cx="595313" cy="595313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63479" y="4963001"/>
            <a:ext cx="267891" cy="267891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999768" y="559308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Operations</a:t>
            </a:r>
            <a:endParaRPr lang="en-US" sz="1950" dirty="0"/>
          </a:p>
        </p:txBody>
      </p:sp>
      <p:sp>
        <p:nvSpPr>
          <p:cNvPr id="22" name="Shape 12"/>
          <p:cNvSpPr/>
          <p:nvPr/>
        </p:nvSpPr>
        <p:spPr>
          <a:xfrm>
            <a:off x="7414260" y="4593431"/>
            <a:ext cx="6422231" cy="1515785"/>
          </a:xfrm>
          <a:prstGeom prst="roundRect">
            <a:avLst>
              <a:gd name="adj" fmla="val 549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238" y="4799409"/>
            <a:ext cx="595313" cy="595313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83949" y="4963001"/>
            <a:ext cx="267891" cy="267891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7620238" y="5593080"/>
            <a:ext cx="30543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Performance management</a:t>
            </a:r>
            <a:endParaRPr lang="en-US" sz="1950" dirty="0"/>
          </a:p>
        </p:txBody>
      </p:sp>
      <p:sp>
        <p:nvSpPr>
          <p:cNvPr id="26" name="Text 14"/>
          <p:cNvSpPr/>
          <p:nvPr/>
        </p:nvSpPr>
        <p:spPr>
          <a:xfrm>
            <a:off x="793790" y="6332458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is not a separate department.</a:t>
            </a:r>
            <a:endParaRPr lang="en-US" sz="1950" dirty="0"/>
          </a:p>
        </p:txBody>
      </p:sp>
      <p:sp>
        <p:nvSpPr>
          <p:cNvPr id="27" name="Text 15"/>
          <p:cNvSpPr/>
          <p:nvPr/>
        </p:nvSpPr>
        <p:spPr>
          <a:xfrm>
            <a:off x="793790" y="6927890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is part of how decisions are made.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011323"/>
            <a:ext cx="1143357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2070854"/>
            <a:ext cx="905232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PRINCIPLE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447925"/>
            <a:ext cx="656784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Structured &amp; Comprehensive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365659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risk management: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3961090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8632" y="4029313"/>
            <a:ext cx="363783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Follows consistent methodology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439144" y="3961090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83987" y="4029313"/>
            <a:ext cx="323576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Uses defined scoring criteria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93790" y="4804410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8632" y="48726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Documents decisions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39144" y="4804410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83987" y="48726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Ensures defensibility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91446" y="5697379"/>
            <a:ext cx="1274516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Consistency strengthens governance credibility.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474137"/>
            <a:ext cx="22860" cy="744141"/>
          </a:xfrm>
          <a:prstGeom prst="rect">
            <a:avLst/>
          </a:prstGeom>
          <a:solidFill>
            <a:srgbClr val="95CCD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66618"/>
            <a:ext cx="914400" cy="266700"/>
          </a:xfrm>
          <a:prstGeom prst="roundRect">
            <a:avLst>
              <a:gd name="adj" fmla="val 2000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889040" y="614243"/>
            <a:ext cx="723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3790" y="884039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Customized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93790" y="1570673"/>
            <a:ext cx="1304282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management must reflect: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1981438"/>
            <a:ext cx="13042821" cy="952619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6650" y="2004298"/>
            <a:ext cx="635079" cy="906899"/>
          </a:xfrm>
          <a:prstGeom prst="roundRect">
            <a:avLst>
              <a:gd name="adj" fmla="val 6181"/>
            </a:avLst>
          </a:prstGeom>
          <a:solidFill>
            <a:srgbClr val="D9ED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317" y="2338626"/>
            <a:ext cx="238125" cy="238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8650" y="2163008"/>
            <a:ext cx="226385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Organizational objectives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93790" y="3060978"/>
            <a:ext cx="13042821" cy="952619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6650" y="3083838"/>
            <a:ext cx="635079" cy="906899"/>
          </a:xfrm>
          <a:prstGeom prst="roundRect">
            <a:avLst>
              <a:gd name="adj" fmla="val 6181"/>
            </a:avLst>
          </a:prstGeom>
          <a:solidFill>
            <a:srgbClr val="D9ED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317" y="3418165"/>
            <a:ext cx="238125" cy="238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78650" y="324254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appetite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93790" y="4140518"/>
            <a:ext cx="13042821" cy="952619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6650" y="4163378"/>
            <a:ext cx="635079" cy="906899"/>
          </a:xfrm>
          <a:prstGeom prst="roundRect">
            <a:avLst>
              <a:gd name="adj" fmla="val 6181"/>
            </a:avLst>
          </a:prstGeom>
          <a:solidFill>
            <a:srgbClr val="D9ED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1317" y="4497705"/>
            <a:ext cx="238125" cy="238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8650" y="4322088"/>
            <a:ext cx="217229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Regulatory environment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93790" y="5220057"/>
            <a:ext cx="13042821" cy="952619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16650" y="5242917"/>
            <a:ext cx="635079" cy="906899"/>
          </a:xfrm>
          <a:prstGeom prst="roundRect">
            <a:avLst>
              <a:gd name="adj" fmla="val 6181"/>
            </a:avLst>
          </a:prstGeom>
          <a:solidFill>
            <a:srgbClr val="D9EDF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1317" y="5577245"/>
            <a:ext cx="238125" cy="238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78650" y="540162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Industry context</a:t>
            </a:r>
            <a:endParaRPr lang="en-US" sz="1550" dirty="0"/>
          </a:p>
        </p:txBody>
      </p:sp>
      <p:sp>
        <p:nvSpPr>
          <p:cNvPr id="22" name="Shape 16"/>
          <p:cNvSpPr/>
          <p:nvPr/>
        </p:nvSpPr>
        <p:spPr>
          <a:xfrm>
            <a:off x="793790" y="6299597"/>
            <a:ext cx="13042821" cy="952619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16650" y="6322457"/>
            <a:ext cx="635079" cy="906899"/>
          </a:xfrm>
          <a:prstGeom prst="roundRect">
            <a:avLst>
              <a:gd name="adj" fmla="val 6181"/>
            </a:avLst>
          </a:prstGeom>
          <a:solidFill>
            <a:srgbClr val="D9EDF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1317" y="6656784"/>
            <a:ext cx="238125" cy="2381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78650" y="6481167"/>
            <a:ext cx="235850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Organizational complexity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793790" y="7395091"/>
            <a:ext cx="1304282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07E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Frameworks must be tailored — not copied.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19175"/>
            <a:ext cx="1143357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078706"/>
            <a:ext cx="905232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PRINCIPLE 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45577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Inclusive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373511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Stakeholder engagement improves risk outcomes.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2968943"/>
            <a:ext cx="1304282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inclusion involves: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239214" y="3489841"/>
            <a:ext cx="1630323" cy="706874"/>
          </a:xfrm>
          <a:prstGeom prst="roundRect">
            <a:avLst>
              <a:gd name="adj" fmla="val 1179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9350" y="3703677"/>
            <a:ext cx="279083" cy="2790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67895" y="3688199"/>
            <a:ext cx="177677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Board oversight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2523292" y="4187190"/>
            <a:ext cx="11214140" cy="11430"/>
          </a:xfrm>
          <a:prstGeom prst="roundRect">
            <a:avLst>
              <a:gd name="adj" fmla="val 729302"/>
            </a:avLst>
          </a:prstGeom>
          <a:solidFill>
            <a:srgbClr val="BFD3D8"/>
          </a:solidFill>
          <a:ln/>
        </p:spPr>
      </p:sp>
      <p:sp>
        <p:nvSpPr>
          <p:cNvPr id="11" name="Shape 8"/>
          <p:cNvSpPr/>
          <p:nvPr/>
        </p:nvSpPr>
        <p:spPr>
          <a:xfrm>
            <a:off x="2424113" y="4295894"/>
            <a:ext cx="3260646" cy="706874"/>
          </a:xfrm>
          <a:prstGeom prst="roundRect">
            <a:avLst>
              <a:gd name="adj" fmla="val 1179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571" y="4509730"/>
            <a:ext cx="279083" cy="2790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83116" y="4494252"/>
            <a:ext cx="231719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Executive leadership</a:t>
            </a:r>
            <a:endParaRPr lang="en-US" sz="1950" dirty="0"/>
          </a:p>
        </p:txBody>
      </p:sp>
      <p:sp>
        <p:nvSpPr>
          <p:cNvPr id="14" name="Shape 10"/>
          <p:cNvSpPr/>
          <p:nvPr/>
        </p:nvSpPr>
        <p:spPr>
          <a:xfrm>
            <a:off x="4153614" y="4993243"/>
            <a:ext cx="9583817" cy="11430"/>
          </a:xfrm>
          <a:prstGeom prst="roundRect">
            <a:avLst>
              <a:gd name="adj" fmla="val 729302"/>
            </a:avLst>
          </a:prstGeom>
          <a:solidFill>
            <a:srgbClr val="BFD3D8"/>
          </a:solidFill>
          <a:ln/>
        </p:spPr>
      </p:sp>
      <p:sp>
        <p:nvSpPr>
          <p:cNvPr id="15" name="Shape 11"/>
          <p:cNvSpPr/>
          <p:nvPr/>
        </p:nvSpPr>
        <p:spPr>
          <a:xfrm>
            <a:off x="1608892" y="5101947"/>
            <a:ext cx="4890968" cy="706874"/>
          </a:xfrm>
          <a:prstGeom prst="roundRect">
            <a:avLst>
              <a:gd name="adj" fmla="val 1179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99673" y="5315783"/>
            <a:ext cx="279083" cy="2790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8218" y="5300305"/>
            <a:ext cx="29071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Operational management</a:t>
            </a:r>
            <a:endParaRPr lang="en-US" sz="1950" dirty="0"/>
          </a:p>
        </p:txBody>
      </p:sp>
      <p:sp>
        <p:nvSpPr>
          <p:cNvPr id="18" name="Shape 13"/>
          <p:cNvSpPr/>
          <p:nvPr/>
        </p:nvSpPr>
        <p:spPr>
          <a:xfrm>
            <a:off x="5783937" y="5799296"/>
            <a:ext cx="7953494" cy="11430"/>
          </a:xfrm>
          <a:prstGeom prst="roundRect">
            <a:avLst>
              <a:gd name="adj" fmla="val 729302"/>
            </a:avLst>
          </a:prstGeom>
          <a:solidFill>
            <a:srgbClr val="BFD3D8"/>
          </a:solidFill>
          <a:ln/>
        </p:spPr>
      </p:sp>
      <p:sp>
        <p:nvSpPr>
          <p:cNvPr id="19" name="Shape 14"/>
          <p:cNvSpPr/>
          <p:nvPr/>
        </p:nvSpPr>
        <p:spPr>
          <a:xfrm>
            <a:off x="793790" y="5908000"/>
            <a:ext cx="6521410" cy="706874"/>
          </a:xfrm>
          <a:prstGeom prst="roundRect">
            <a:avLst>
              <a:gd name="adj" fmla="val 1179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14894" y="6121837"/>
            <a:ext cx="279083" cy="27908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13558" y="6106358"/>
            <a:ext cx="31319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and compliance teams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93790" y="6838117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Diverse perspectives improve risk identification quality.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04367"/>
            <a:ext cx="1143357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663898"/>
            <a:ext cx="905232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PRINCIPLE 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04096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Dynamic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958703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management must: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3554135"/>
            <a:ext cx="13042821" cy="1428988"/>
          </a:xfrm>
          <a:prstGeom prst="roundRect">
            <a:avLst>
              <a:gd name="adj" fmla="val 583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410" y="3561755"/>
            <a:ext cx="6513790" cy="706874"/>
          </a:xfrm>
          <a:prstGeom prst="roundRect">
            <a:avLst>
              <a:gd name="adj" fmla="val 11793"/>
            </a:avLst>
          </a:prstGeom>
          <a:solidFill>
            <a:srgbClr val="D9EDF2"/>
          </a:solidFill>
          <a:ln/>
        </p:spPr>
      </p:sp>
      <p:sp>
        <p:nvSpPr>
          <p:cNvPr id="8" name="Text 6"/>
          <p:cNvSpPr/>
          <p:nvPr/>
        </p:nvSpPr>
        <p:spPr>
          <a:xfrm>
            <a:off x="999768" y="37601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Anticipate change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315200" y="3561755"/>
            <a:ext cx="6513790" cy="706874"/>
          </a:xfrm>
          <a:prstGeom prst="rect">
            <a:avLst/>
          </a:prstGeom>
          <a:solidFill>
            <a:srgbClr val="D9EDF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3561755"/>
            <a:ext cx="22860" cy="706874"/>
          </a:xfrm>
          <a:prstGeom prst="roundRect">
            <a:avLst>
              <a:gd name="adj" fmla="val 364651"/>
            </a:avLst>
          </a:prstGeom>
          <a:solidFill>
            <a:srgbClr val="BFD3D8"/>
          </a:solidFill>
          <a:ln/>
        </p:spPr>
      </p:sp>
      <p:sp>
        <p:nvSpPr>
          <p:cNvPr id="11" name="Text 9"/>
          <p:cNvSpPr/>
          <p:nvPr/>
        </p:nvSpPr>
        <p:spPr>
          <a:xfrm>
            <a:off x="7811333" y="3760113"/>
            <a:ext cx="261997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Monitor emerging risks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067193" y="3667065"/>
            <a:ext cx="496133" cy="496133"/>
          </a:xfrm>
          <a:prstGeom prst="roundRect">
            <a:avLst>
              <a:gd name="adj" fmla="val 16802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410" y="4268629"/>
            <a:ext cx="6513790" cy="706874"/>
          </a:xfrm>
          <a:prstGeom prst="rect">
            <a:avLst/>
          </a:prstGeom>
          <a:solidFill>
            <a:srgbClr val="D9EDF2"/>
          </a:solidFill>
          <a:ln/>
        </p:spPr>
      </p:sp>
      <p:sp>
        <p:nvSpPr>
          <p:cNvPr id="14" name="Shape 12"/>
          <p:cNvSpPr/>
          <p:nvPr/>
        </p:nvSpPr>
        <p:spPr>
          <a:xfrm>
            <a:off x="801410" y="4268629"/>
            <a:ext cx="6513790" cy="22860"/>
          </a:xfrm>
          <a:prstGeom prst="roundRect">
            <a:avLst>
              <a:gd name="adj" fmla="val 364651"/>
            </a:avLst>
          </a:prstGeom>
          <a:solidFill>
            <a:srgbClr val="BFD3D8"/>
          </a:solidFill>
          <a:ln/>
        </p:spPr>
      </p:sp>
      <p:sp>
        <p:nvSpPr>
          <p:cNvPr id="15" name="Text 13"/>
          <p:cNvSpPr/>
          <p:nvPr/>
        </p:nvSpPr>
        <p:spPr>
          <a:xfrm>
            <a:off x="999768" y="44669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Adapt controls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315200" y="4268629"/>
            <a:ext cx="6513790" cy="706874"/>
          </a:xfrm>
          <a:prstGeom prst="rect">
            <a:avLst/>
          </a:prstGeom>
          <a:solidFill>
            <a:srgbClr val="D9EDF2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4268629"/>
            <a:ext cx="22860" cy="706874"/>
          </a:xfrm>
          <a:prstGeom prst="roundRect">
            <a:avLst>
              <a:gd name="adj" fmla="val 364651"/>
            </a:avLst>
          </a:prstGeom>
          <a:solidFill>
            <a:srgbClr val="BFD3D8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4268629"/>
            <a:ext cx="6513790" cy="22860"/>
          </a:xfrm>
          <a:prstGeom prst="roundRect">
            <a:avLst>
              <a:gd name="adj" fmla="val 364651"/>
            </a:avLst>
          </a:prstGeom>
          <a:solidFill>
            <a:srgbClr val="BFD3D8"/>
          </a:solidFill>
          <a:ln/>
        </p:spPr>
      </p:sp>
      <p:sp>
        <p:nvSpPr>
          <p:cNvPr id="19" name="Text 17"/>
          <p:cNvSpPr/>
          <p:nvPr/>
        </p:nvSpPr>
        <p:spPr>
          <a:xfrm>
            <a:off x="7811333" y="44669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Learn from incidents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7067193" y="4373940"/>
            <a:ext cx="496133" cy="496133"/>
          </a:xfrm>
          <a:prstGeom prst="roundRect">
            <a:avLst>
              <a:gd name="adj" fmla="val 16802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790" y="5206365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Static risk registers become obsolete.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793790" y="5801797"/>
            <a:ext cx="13042821" cy="823317"/>
          </a:xfrm>
          <a:prstGeom prst="roundRect">
            <a:avLst>
              <a:gd name="adj" fmla="val 10125"/>
            </a:avLst>
          </a:prstGeom>
          <a:solidFill>
            <a:srgbClr val="C6E4EB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6089452"/>
            <a:ext cx="248007" cy="19835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38513" y="6049685"/>
            <a:ext cx="121997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review is essential.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903571"/>
            <a:ext cx="1143357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963103"/>
            <a:ext cx="905232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PRINCIPLE 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340173"/>
            <a:ext cx="585442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Best Available Information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257907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decisions should rely on: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30" y="3853339"/>
            <a:ext cx="6443067" cy="45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40974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Reliable internal data</a:t>
            </a:r>
            <a:endParaRPr lang="en-US" sz="1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284" y="3853339"/>
            <a:ext cx="6443186" cy="45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39144" y="40974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External intelligence</a:t>
            </a:r>
            <a:endParaRPr lang="en-US" sz="1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4804410"/>
            <a:ext cx="6443067" cy="457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50484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Expert judgment</a:t>
            </a:r>
            <a:endParaRPr lang="en-US" sz="1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284" y="4804410"/>
            <a:ext cx="6443186" cy="457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9144" y="50484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Scenario analysis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091446" y="5805130"/>
            <a:ext cx="1274516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Uncertainty should be documented and acknowledged.</a:t>
            </a:r>
            <a:endParaRPr lang="en-US" sz="1550" dirty="0"/>
          </a:p>
        </p:txBody>
      </p:sp>
      <p:sp>
        <p:nvSpPr>
          <p:cNvPr id="15" name="Shape 9"/>
          <p:cNvSpPr/>
          <p:nvPr/>
        </p:nvSpPr>
        <p:spPr>
          <a:xfrm>
            <a:off x="793790" y="5581888"/>
            <a:ext cx="22860" cy="744141"/>
          </a:xfrm>
          <a:prstGeom prst="rect">
            <a:avLst/>
          </a:prstGeom>
          <a:solidFill>
            <a:srgbClr val="95CCDA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545902"/>
            <a:ext cx="3383518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7EB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ISO 31000 Risk Management Process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89503" y="800219"/>
            <a:ext cx="3454003" cy="431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Process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9503" y="1376124"/>
            <a:ext cx="1305139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process includes: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89503" y="1659850"/>
            <a:ext cx="13051393" cy="828913"/>
          </a:xfrm>
          <a:prstGeom prst="roundRect">
            <a:avLst>
              <a:gd name="adj" fmla="val 7001"/>
            </a:avLst>
          </a:prstGeom>
          <a:solidFill>
            <a:srgbClr val="FAF9F5"/>
          </a:solidFill>
          <a:ln w="15240">
            <a:solidFill>
              <a:srgbClr val="BFD3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743" y="1675090"/>
            <a:ext cx="552569" cy="798433"/>
          </a:xfrm>
          <a:prstGeom prst="roundRect">
            <a:avLst>
              <a:gd name="adj" fmla="val 7192"/>
            </a:avLst>
          </a:prstGeom>
          <a:solidFill>
            <a:srgbClr val="D9EDF2"/>
          </a:solidFill>
          <a:ln/>
        </p:spPr>
      </p:sp>
      <p:sp>
        <p:nvSpPr>
          <p:cNvPr id="7" name="Text 5"/>
          <p:cNvSpPr/>
          <p:nvPr/>
        </p:nvSpPr>
        <p:spPr>
          <a:xfrm>
            <a:off x="973574" y="1944767"/>
            <a:ext cx="20716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53396" y="1813203"/>
            <a:ext cx="2442567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Communication &amp; Consultation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9503" y="2584847"/>
            <a:ext cx="13051393" cy="828913"/>
          </a:xfrm>
          <a:prstGeom prst="roundRect">
            <a:avLst>
              <a:gd name="adj" fmla="val 7001"/>
            </a:avLst>
          </a:prstGeom>
          <a:solidFill>
            <a:srgbClr val="FAF9F5"/>
          </a:solidFill>
          <a:ln w="15240">
            <a:solidFill>
              <a:srgbClr val="BFD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743" y="2600087"/>
            <a:ext cx="552569" cy="798433"/>
          </a:xfrm>
          <a:prstGeom prst="roundRect">
            <a:avLst>
              <a:gd name="adj" fmla="val 7192"/>
            </a:avLst>
          </a:prstGeom>
          <a:solidFill>
            <a:srgbClr val="D9EDF2"/>
          </a:solidFill>
          <a:ln/>
        </p:spPr>
      </p:sp>
      <p:sp>
        <p:nvSpPr>
          <p:cNvPr id="11" name="Text 9"/>
          <p:cNvSpPr/>
          <p:nvPr/>
        </p:nvSpPr>
        <p:spPr>
          <a:xfrm>
            <a:off x="973574" y="2869763"/>
            <a:ext cx="20716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53396" y="2738199"/>
            <a:ext cx="2012752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Scope, Context &amp; Criteria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9503" y="3509843"/>
            <a:ext cx="13051393" cy="828913"/>
          </a:xfrm>
          <a:prstGeom prst="roundRect">
            <a:avLst>
              <a:gd name="adj" fmla="val 7001"/>
            </a:avLst>
          </a:prstGeom>
          <a:solidFill>
            <a:srgbClr val="FAF9F5"/>
          </a:solidFill>
          <a:ln w="15240">
            <a:solidFill>
              <a:srgbClr val="BFD3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743" y="3525083"/>
            <a:ext cx="552569" cy="798433"/>
          </a:xfrm>
          <a:prstGeom prst="roundRect">
            <a:avLst>
              <a:gd name="adj" fmla="val 7192"/>
            </a:avLst>
          </a:prstGeom>
          <a:solidFill>
            <a:srgbClr val="D9EDF2"/>
          </a:solidFill>
          <a:ln/>
        </p:spPr>
      </p:sp>
      <p:sp>
        <p:nvSpPr>
          <p:cNvPr id="15" name="Text 13"/>
          <p:cNvSpPr/>
          <p:nvPr/>
        </p:nvSpPr>
        <p:spPr>
          <a:xfrm>
            <a:off x="973574" y="3794760"/>
            <a:ext cx="20716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53396" y="3663196"/>
            <a:ext cx="1727002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Assessment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53396" y="3936683"/>
            <a:ext cx="12234148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Identification → Analysis → Evaluation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9503" y="4434840"/>
            <a:ext cx="13051393" cy="828913"/>
          </a:xfrm>
          <a:prstGeom prst="roundRect">
            <a:avLst>
              <a:gd name="adj" fmla="val 7001"/>
            </a:avLst>
          </a:prstGeom>
          <a:solidFill>
            <a:srgbClr val="FAF9F5"/>
          </a:solidFill>
          <a:ln w="15240">
            <a:solidFill>
              <a:srgbClr val="BFD3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743" y="4450080"/>
            <a:ext cx="552569" cy="798433"/>
          </a:xfrm>
          <a:prstGeom prst="roundRect">
            <a:avLst>
              <a:gd name="adj" fmla="val 7192"/>
            </a:avLst>
          </a:prstGeom>
          <a:solidFill>
            <a:srgbClr val="D9EDF2"/>
          </a:solidFill>
          <a:ln/>
        </p:spPr>
      </p:sp>
      <p:sp>
        <p:nvSpPr>
          <p:cNvPr id="20" name="Text 18"/>
          <p:cNvSpPr/>
          <p:nvPr/>
        </p:nvSpPr>
        <p:spPr>
          <a:xfrm>
            <a:off x="973574" y="4719757"/>
            <a:ext cx="20716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53396" y="4588193"/>
            <a:ext cx="1727002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Treatment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89503" y="5359837"/>
            <a:ext cx="13051393" cy="828913"/>
          </a:xfrm>
          <a:prstGeom prst="roundRect">
            <a:avLst>
              <a:gd name="adj" fmla="val 7001"/>
            </a:avLst>
          </a:prstGeom>
          <a:solidFill>
            <a:srgbClr val="FAF9F5"/>
          </a:solidFill>
          <a:ln w="15240">
            <a:solidFill>
              <a:srgbClr val="BFD3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743" y="5375077"/>
            <a:ext cx="552569" cy="798433"/>
          </a:xfrm>
          <a:prstGeom prst="roundRect">
            <a:avLst>
              <a:gd name="adj" fmla="val 7192"/>
            </a:avLst>
          </a:prstGeom>
          <a:solidFill>
            <a:srgbClr val="D9EDF2"/>
          </a:solidFill>
          <a:ln/>
        </p:spPr>
      </p:sp>
      <p:sp>
        <p:nvSpPr>
          <p:cNvPr id="24" name="Text 22"/>
          <p:cNvSpPr/>
          <p:nvPr/>
        </p:nvSpPr>
        <p:spPr>
          <a:xfrm>
            <a:off x="973574" y="5644753"/>
            <a:ext cx="20716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53396" y="5513189"/>
            <a:ext cx="1727002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Monitoring &amp; Review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89503" y="6284833"/>
            <a:ext cx="13051393" cy="828913"/>
          </a:xfrm>
          <a:prstGeom prst="roundRect">
            <a:avLst>
              <a:gd name="adj" fmla="val 7001"/>
            </a:avLst>
          </a:prstGeom>
          <a:solidFill>
            <a:srgbClr val="FAF9F5"/>
          </a:solidFill>
          <a:ln w="15240">
            <a:solidFill>
              <a:srgbClr val="BFD3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743" y="6300073"/>
            <a:ext cx="552569" cy="798433"/>
          </a:xfrm>
          <a:prstGeom prst="roundRect">
            <a:avLst>
              <a:gd name="adj" fmla="val 7192"/>
            </a:avLst>
          </a:prstGeom>
          <a:solidFill>
            <a:srgbClr val="D9EDF2"/>
          </a:solidFill>
          <a:ln/>
        </p:spPr>
      </p:sp>
      <p:sp>
        <p:nvSpPr>
          <p:cNvPr id="28" name="Text 26"/>
          <p:cNvSpPr/>
          <p:nvPr/>
        </p:nvSpPr>
        <p:spPr>
          <a:xfrm>
            <a:off x="973574" y="6569750"/>
            <a:ext cx="20716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53396" y="6438186"/>
            <a:ext cx="1805583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Recording &amp; Reporting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89503" y="7221855"/>
            <a:ext cx="13051393" cy="461843"/>
          </a:xfrm>
          <a:prstGeom prst="roundRect">
            <a:avLst>
              <a:gd name="adj" fmla="val 12565"/>
            </a:avLst>
          </a:prstGeom>
          <a:solidFill>
            <a:srgbClr val="C6E4EB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616" y="7410807"/>
            <a:ext cx="172641" cy="13811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238369" y="7352467"/>
            <a:ext cx="12464415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process is iterative, not linear.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6790"/>
            <a:ext cx="264533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7EB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Treatment Options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2326243"/>
            <a:ext cx="778394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Four Primary Treatment Strategies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3243977"/>
            <a:ext cx="1304282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31000 identifies four primary treatment strategies: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764875"/>
            <a:ext cx="3111937" cy="1932503"/>
          </a:xfrm>
          <a:prstGeom prst="roundRect">
            <a:avLst>
              <a:gd name="adj" fmla="val 4314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68" y="3970853"/>
            <a:ext cx="595313" cy="59531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479" y="4134445"/>
            <a:ext cx="267891" cy="2678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9768" y="47645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Avoid the risk</a:t>
            </a:r>
            <a:endParaRPr lang="en-US" sz="1950" dirty="0"/>
          </a:p>
        </p:txBody>
      </p:sp>
      <p:sp>
        <p:nvSpPr>
          <p:cNvPr id="9" name="Shape 5"/>
          <p:cNvSpPr/>
          <p:nvPr/>
        </p:nvSpPr>
        <p:spPr>
          <a:xfrm>
            <a:off x="4104084" y="3764875"/>
            <a:ext cx="3111937" cy="1932503"/>
          </a:xfrm>
          <a:prstGeom prst="roundRect">
            <a:avLst>
              <a:gd name="adj" fmla="val 4314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063" y="3970853"/>
            <a:ext cx="595313" cy="595313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3773" y="4134445"/>
            <a:ext cx="267891" cy="2678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10063" y="47645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Modify the risk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4310063" y="5193744"/>
            <a:ext cx="269998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likelihood or impact</a:t>
            </a:r>
            <a:endParaRPr lang="en-US" sz="1550" dirty="0"/>
          </a:p>
        </p:txBody>
      </p:sp>
      <p:sp>
        <p:nvSpPr>
          <p:cNvPr id="14" name="Shape 8"/>
          <p:cNvSpPr/>
          <p:nvPr/>
        </p:nvSpPr>
        <p:spPr>
          <a:xfrm>
            <a:off x="7414379" y="3764875"/>
            <a:ext cx="3111937" cy="1932503"/>
          </a:xfrm>
          <a:prstGeom prst="roundRect">
            <a:avLst>
              <a:gd name="adj" fmla="val 4314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357" y="3970853"/>
            <a:ext cx="595313" cy="595313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84068" y="4134445"/>
            <a:ext cx="267891" cy="26789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620357" y="47645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Share the risk</a:t>
            </a:r>
            <a:endParaRPr lang="en-US" sz="1950" dirty="0"/>
          </a:p>
        </p:txBody>
      </p:sp>
      <p:sp>
        <p:nvSpPr>
          <p:cNvPr id="18" name="Text 10"/>
          <p:cNvSpPr/>
          <p:nvPr/>
        </p:nvSpPr>
        <p:spPr>
          <a:xfrm>
            <a:off x="7620357" y="5193744"/>
            <a:ext cx="269998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Insurance, partnerships</a:t>
            </a:r>
            <a:endParaRPr lang="en-US" sz="1550" dirty="0"/>
          </a:p>
        </p:txBody>
      </p:sp>
      <p:sp>
        <p:nvSpPr>
          <p:cNvPr id="19" name="Shape 11"/>
          <p:cNvSpPr/>
          <p:nvPr/>
        </p:nvSpPr>
        <p:spPr>
          <a:xfrm>
            <a:off x="10724674" y="3764875"/>
            <a:ext cx="3111937" cy="1932503"/>
          </a:xfrm>
          <a:prstGeom prst="roundRect">
            <a:avLst>
              <a:gd name="adj" fmla="val 4314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30652" y="3970853"/>
            <a:ext cx="595313" cy="595313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94363" y="4134445"/>
            <a:ext cx="267891" cy="267891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930652" y="47645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Retain the risk</a:t>
            </a:r>
            <a:endParaRPr lang="en-US" sz="1950" dirty="0"/>
          </a:p>
        </p:txBody>
      </p:sp>
      <p:sp>
        <p:nvSpPr>
          <p:cNvPr id="23" name="Text 13"/>
          <p:cNvSpPr/>
          <p:nvPr/>
        </p:nvSpPr>
        <p:spPr>
          <a:xfrm>
            <a:off x="10930652" y="5193744"/>
            <a:ext cx="269998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 within appetite</a:t>
            </a:r>
            <a:endParaRPr lang="en-US" sz="1550" dirty="0"/>
          </a:p>
        </p:txBody>
      </p:sp>
      <p:sp>
        <p:nvSpPr>
          <p:cNvPr id="24" name="Text 14"/>
          <p:cNvSpPr/>
          <p:nvPr/>
        </p:nvSpPr>
        <p:spPr>
          <a:xfrm>
            <a:off x="793790" y="5920621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Treatment decisions must align with risk appetite and strategic objectives.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05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7EB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Comparison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869996"/>
            <a:ext cx="592633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ISO 31000 vs COSO ERM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793790" y="2787729"/>
            <a:ext cx="13042821" cy="2770346"/>
          </a:xfrm>
          <a:prstGeom prst="roundRect">
            <a:avLst>
              <a:gd name="adj" fmla="val 300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795349"/>
            <a:ext cx="13027581" cy="5510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9887" y="2922032"/>
            <a:ext cx="350770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Aspect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911923" y="2922032"/>
            <a:ext cx="415528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31000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471541" y="2922032"/>
            <a:ext cx="415909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COSO ERM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3346371"/>
            <a:ext cx="13027581" cy="5510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9887" y="3473053"/>
            <a:ext cx="350770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911923" y="3473053"/>
            <a:ext cx="415528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Principles-based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471541" y="3473053"/>
            <a:ext cx="415909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Component-based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1410" y="3897392"/>
            <a:ext cx="13027581" cy="5510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99887" y="4024074"/>
            <a:ext cx="350770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911923" y="4024074"/>
            <a:ext cx="415528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process &amp; governance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471541" y="4024074"/>
            <a:ext cx="415909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 &amp; performance integration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4448413"/>
            <a:ext cx="13027581" cy="5510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9887" y="4575096"/>
            <a:ext cx="350770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Flexibility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911923" y="4575096"/>
            <a:ext cx="415528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Highly adaptable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471541" y="4575096"/>
            <a:ext cx="415909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governance model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4999434"/>
            <a:ext cx="13027581" cy="5510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99887" y="5126117"/>
            <a:ext cx="350770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Certification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911923" y="5126117"/>
            <a:ext cx="415528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471541" y="5126117"/>
            <a:ext cx="415909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93790" y="5781318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31000</a:t>
            </a:r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supports implementation. </a:t>
            </a:r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COSO ERM</a:t>
            </a:r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emphasizes strategic oversight.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93790" y="6376749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007E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organizations use both together.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13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7EB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Implementation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090851"/>
            <a:ext cx="597991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Best Practices for Success</a:t>
            </a:r>
            <a:endParaRPr lang="en-US" sz="3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14014"/>
            <a:ext cx="99179" cy="991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1327" y="2008584"/>
            <a:ext cx="33729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Secure executive sponsorship</a:t>
            </a:r>
            <a:endParaRPr lang="en-US" sz="1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821007"/>
            <a:ext cx="99179" cy="991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1327" y="2715578"/>
            <a:ext cx="44693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Align with strategy and planning cycles</a:t>
            </a:r>
            <a:endParaRPr lang="en-US" sz="1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28000"/>
            <a:ext cx="99179" cy="9917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1327" y="3422571"/>
            <a:ext cx="303287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Define risk appetite clearly</a:t>
            </a:r>
            <a:endParaRPr lang="en-US" sz="1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234994"/>
            <a:ext cx="99179" cy="9917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1327" y="4129564"/>
            <a:ext cx="311729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Standardize scoring criteria</a:t>
            </a:r>
            <a:endParaRPr lang="en-US" sz="1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941987"/>
            <a:ext cx="99179" cy="99179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1327" y="48365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Train facilitators</a:t>
            </a:r>
            <a:endParaRPr lang="en-US" sz="19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648980"/>
            <a:ext cx="99179" cy="99179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91327" y="5543550"/>
            <a:ext cx="471237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Integrate risk with performance reporting</a:t>
            </a:r>
            <a:endParaRPr lang="en-US" sz="19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355973"/>
            <a:ext cx="99179" cy="99179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91327" y="62505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Review quarterly</a:t>
            </a:r>
            <a:endParaRPr lang="en-US" sz="1950" dirty="0"/>
          </a:p>
        </p:txBody>
      </p:sp>
      <p:sp>
        <p:nvSpPr>
          <p:cNvPr id="18" name="Text 9"/>
          <p:cNvSpPr/>
          <p:nvPr/>
        </p:nvSpPr>
        <p:spPr>
          <a:xfrm>
            <a:off x="1091446" y="7007185"/>
            <a:ext cx="1274516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management must create insight — not paperwork.</a:t>
            </a:r>
            <a:endParaRPr lang="en-US" sz="1550" dirty="0"/>
          </a:p>
        </p:txBody>
      </p:sp>
      <p:sp>
        <p:nvSpPr>
          <p:cNvPr id="19" name="Shape 10"/>
          <p:cNvSpPr/>
          <p:nvPr/>
        </p:nvSpPr>
        <p:spPr>
          <a:xfrm>
            <a:off x="793790" y="6783943"/>
            <a:ext cx="22860" cy="744141"/>
          </a:xfrm>
          <a:prstGeom prst="rect">
            <a:avLst/>
          </a:prstGeom>
          <a:solidFill>
            <a:srgbClr val="95CCDA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3866"/>
            <a:ext cx="535185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Summary &amp; Next Steps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4699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040386"/>
            <a:ext cx="6279356" cy="176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31000 provides a globally recognized framework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management must be integrated into decision-making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Principles guide value creation and protection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processes improve consistency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 implementation requires leadership commitment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421999" y="3271599"/>
            <a:ext cx="6565106" cy="2604135"/>
          </a:xfrm>
          <a:prstGeom prst="roundRect">
            <a:avLst>
              <a:gd name="adj" fmla="val 5487"/>
            </a:avLst>
          </a:prstGeom>
          <a:solidFill>
            <a:srgbClr val="007EBD"/>
          </a:solidFill>
          <a:ln/>
        </p:spPr>
      </p:sp>
      <p:sp>
        <p:nvSpPr>
          <p:cNvPr id="6" name="Text 4"/>
          <p:cNvSpPr/>
          <p:nvPr/>
        </p:nvSpPr>
        <p:spPr>
          <a:xfrm>
            <a:off x="7620357" y="34699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Next Steps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620357" y="4040386"/>
            <a:ext cx="6168390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current risk maturity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 risk appetite with strategy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 risk assessment criteria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 reporting into governance structures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2253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Property Notice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4139446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is the intellectual property of </a:t>
            </a:r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Phumi Mhlongo</a:t>
            </a:r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Nozipho Memela</a:t>
            </a:r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All rights reserved.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4734878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Unauthorized reproduction, distribution, or commercial use is strictly prohibited without prior written consent.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800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Disclaimer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4064913"/>
            <a:ext cx="13042821" cy="1116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material is provided for educational and professional development purposes only. Organizations must apply independent professional judgment when implementing ISO 31000 within their specific regulatory and operational context.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2026-02-26T19:11:35Z</dcterms:created>
  <dcterms:modified xsi:type="dcterms:W3CDTF">2026-02-26T19:11:35Z</dcterms:modified>
</cp:coreProperties>
</file>