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4630400" cy="8229600"/>
  <p:notesSz cx="8229600" cy="14630400"/>
  <p:embeddedFontLst>
    <p:embeddedFont>
      <p:font typeface="Kanit Light" panose="020B0604020202020204" charset="-34"/>
      <p:regular r:id="rId27"/>
    </p:embeddedFont>
    <p:embeddedFont>
      <p:font typeface="Martel Sans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327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5816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sv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Relationship Id="rId14" Type="http://schemas.openxmlformats.org/officeDocument/2006/relationships/image" Target="../media/image2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8.sv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6.sv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49.svg"/><Relationship Id="rId11" Type="http://schemas.openxmlformats.org/officeDocument/2006/relationships/image" Target="../media/image24.png"/><Relationship Id="rId5" Type="http://schemas.openxmlformats.org/officeDocument/2006/relationships/image" Target="../media/image48.png"/><Relationship Id="rId10" Type="http://schemas.openxmlformats.org/officeDocument/2006/relationships/image" Target="../media/image53.svg"/><Relationship Id="rId4" Type="http://schemas.openxmlformats.org/officeDocument/2006/relationships/image" Target="../media/image47.svg"/><Relationship Id="rId9" Type="http://schemas.openxmlformats.org/officeDocument/2006/relationships/image" Target="../media/image5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sv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12" Type="http://schemas.openxmlformats.org/officeDocument/2006/relationships/image" Target="../media/image64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58.sv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0" Type="http://schemas.openxmlformats.org/officeDocument/2006/relationships/image" Target="../media/image62.svg"/><Relationship Id="rId4" Type="http://schemas.openxmlformats.org/officeDocument/2006/relationships/image" Target="../media/image56.svg"/><Relationship Id="rId9" Type="http://schemas.openxmlformats.org/officeDocument/2006/relationships/image" Target="../media/image6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935129"/>
            <a:ext cx="688990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37066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Operational, Environmental &amp; Safety Risk Governance in Mining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3642122"/>
            <a:ext cx="13042821" cy="793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Mining operations involve high-risk physical environments, heavy equipment, geological uncertainty, and significant environmental and social exposure.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4659273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Prepared by: </a:t>
            </a:r>
            <a:r>
              <a:rPr lang="en-US" sz="15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Phumi Mhlongo &amp; </a:t>
            </a:r>
            <a:r>
              <a:rPr lang="en-US" sz="1550" b="1" dirty="0" err="1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Nozipho</a:t>
            </a:r>
            <a:r>
              <a:rPr lang="en-US" sz="1550" b="1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Memela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05201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Agenda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622113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01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2936438"/>
            <a:ext cx="4215289" cy="22860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3790" y="3081338"/>
            <a:ext cx="342745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Mining Industry Risk Landscape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5207437" y="2622113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02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207437" y="2936438"/>
            <a:ext cx="4215408" cy="22860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207437" y="3081338"/>
            <a:ext cx="302966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Operational Risk Categories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621203" y="2622113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9621203" y="2936438"/>
            <a:ext cx="4215289" cy="22860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21203" y="3081338"/>
            <a:ext cx="346995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Underground &amp; Surface Hazards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93790" y="3738682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93790" y="4053007"/>
            <a:ext cx="4215289" cy="22860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93790" y="4197906"/>
            <a:ext cx="298430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Equipment &amp; Worker Safety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5207437" y="3738682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05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207437" y="4053007"/>
            <a:ext cx="4215408" cy="22860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07437" y="4197906"/>
            <a:ext cx="4215408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Environmental &amp; Regulatory Compliance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621203" y="3738682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06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9621203" y="4053007"/>
            <a:ext cx="4215289" cy="22860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621203" y="4197906"/>
            <a:ext cx="301775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Risk Assessment &amp; Controls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793790" y="5165408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07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793790" y="5479733"/>
            <a:ext cx="4215289" cy="22860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93790" y="5624632"/>
            <a:ext cx="385333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Incident &amp; Emergency Management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5207437" y="5165408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08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5207437" y="5479733"/>
            <a:ext cx="4215408" cy="22860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207437" y="5624632"/>
            <a:ext cx="313265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Community &amp; Strategic Risks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9621203" y="5165408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09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9621203" y="5479733"/>
            <a:ext cx="4215289" cy="22860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621203" y="5624632"/>
            <a:ext cx="285083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Implementation Roadmap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793790" y="6306860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This presentation integrates operational safety, environmental stewardship, and enterprise governance.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593646"/>
            <a:ext cx="6514386" cy="589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Mining Industry Risk Landscape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793790" y="1540907"/>
            <a:ext cx="13042821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Mining is characterized by: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93790" y="2036564"/>
            <a:ext cx="3126343" cy="1726168"/>
          </a:xfrm>
          <a:prstGeom prst="roundRect">
            <a:avLst>
              <a:gd name="adj" fmla="val 4588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89886" y="2232660"/>
            <a:ext cx="565547" cy="565547"/>
          </a:xfrm>
          <a:prstGeom prst="roundRect">
            <a:avLst>
              <a:gd name="adj" fmla="val 16166801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5381" y="2388156"/>
            <a:ext cx="254437" cy="2544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9886" y="2977277"/>
            <a:ext cx="2734151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High fatality potential environments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4099203" y="2036564"/>
            <a:ext cx="3126462" cy="1726168"/>
          </a:xfrm>
          <a:prstGeom prst="roundRect">
            <a:avLst>
              <a:gd name="adj" fmla="val 4588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295299" y="2232660"/>
            <a:ext cx="565547" cy="565547"/>
          </a:xfrm>
          <a:prstGeom prst="roundRect">
            <a:avLst>
              <a:gd name="adj" fmla="val 16166801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50794" y="2388156"/>
            <a:ext cx="254437" cy="25443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295299" y="2977277"/>
            <a:ext cx="2446973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Geotechnical instability</a:t>
            </a:r>
            <a:endParaRPr lang="en-US" sz="1850" dirty="0"/>
          </a:p>
        </p:txBody>
      </p:sp>
      <p:sp>
        <p:nvSpPr>
          <p:cNvPr id="12" name="Shape 8"/>
          <p:cNvSpPr/>
          <p:nvPr/>
        </p:nvSpPr>
        <p:spPr>
          <a:xfrm>
            <a:off x="7404735" y="2036564"/>
            <a:ext cx="3126343" cy="1726168"/>
          </a:xfrm>
          <a:prstGeom prst="roundRect">
            <a:avLst>
              <a:gd name="adj" fmla="val 4588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7600831" y="2232660"/>
            <a:ext cx="565547" cy="565547"/>
          </a:xfrm>
          <a:prstGeom prst="roundRect">
            <a:avLst>
              <a:gd name="adj" fmla="val 16166801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56327" y="2388156"/>
            <a:ext cx="254437" cy="25443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600831" y="2977277"/>
            <a:ext cx="2734151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Commodity price volatility</a:t>
            </a:r>
            <a:endParaRPr lang="en-US" sz="1850" dirty="0"/>
          </a:p>
        </p:txBody>
      </p:sp>
      <p:sp>
        <p:nvSpPr>
          <p:cNvPr id="16" name="Shape 11"/>
          <p:cNvSpPr/>
          <p:nvPr/>
        </p:nvSpPr>
        <p:spPr>
          <a:xfrm>
            <a:off x="10710148" y="2036564"/>
            <a:ext cx="3126462" cy="1726168"/>
          </a:xfrm>
          <a:prstGeom prst="roundRect">
            <a:avLst>
              <a:gd name="adj" fmla="val 4588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10906244" y="2232660"/>
            <a:ext cx="565547" cy="565547"/>
          </a:xfrm>
          <a:prstGeom prst="roundRect">
            <a:avLst>
              <a:gd name="adj" fmla="val 16166801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061740" y="2388156"/>
            <a:ext cx="254437" cy="25443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906244" y="2977277"/>
            <a:ext cx="2734270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ESG and environmental scrutiny</a:t>
            </a:r>
            <a:endParaRPr lang="en-US" sz="1850" dirty="0"/>
          </a:p>
        </p:txBody>
      </p:sp>
      <p:sp>
        <p:nvSpPr>
          <p:cNvPr id="20" name="Shape 14"/>
          <p:cNvSpPr/>
          <p:nvPr/>
        </p:nvSpPr>
        <p:spPr>
          <a:xfrm>
            <a:off x="793790" y="3941802"/>
            <a:ext cx="13042821" cy="1431488"/>
          </a:xfrm>
          <a:prstGeom prst="roundRect">
            <a:avLst>
              <a:gd name="adj" fmla="val 5532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989886" y="4137898"/>
            <a:ext cx="565547" cy="565547"/>
          </a:xfrm>
          <a:prstGeom prst="roundRect">
            <a:avLst>
              <a:gd name="adj" fmla="val 16166801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45381" y="4293394"/>
            <a:ext cx="254437" cy="25443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89886" y="4882515"/>
            <a:ext cx="3381256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Community and labor sensitivity</a:t>
            </a:r>
            <a:endParaRPr lang="en-US" sz="1850" dirty="0"/>
          </a:p>
        </p:txBody>
      </p:sp>
      <p:sp>
        <p:nvSpPr>
          <p:cNvPr id="24" name="Shape 17"/>
          <p:cNvSpPr/>
          <p:nvPr/>
        </p:nvSpPr>
        <p:spPr>
          <a:xfrm>
            <a:off x="793790" y="5574744"/>
            <a:ext cx="13042821" cy="1069896"/>
          </a:xfrm>
          <a:prstGeom prst="roundRect">
            <a:avLst>
              <a:gd name="adj" fmla="val 7402"/>
            </a:avLst>
          </a:prstGeom>
          <a:solidFill>
            <a:srgbClr val="CFE2D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2266" y="5828109"/>
            <a:ext cx="235625" cy="18847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406366" y="5800844"/>
            <a:ext cx="12241768" cy="58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Definition:</a:t>
            </a:r>
            <a:r>
              <a:rPr lang="en-US" sz="145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Mining risk is the exposure to injury, environmental harm, production interruption, or financial loss arising from extraction and processing activities.</a:t>
            </a:r>
            <a:endParaRPr lang="en-US" sz="1450" dirty="0"/>
          </a:p>
        </p:txBody>
      </p:sp>
      <p:sp>
        <p:nvSpPr>
          <p:cNvPr id="27" name="Text 19"/>
          <p:cNvSpPr/>
          <p:nvPr/>
        </p:nvSpPr>
        <p:spPr>
          <a:xfrm>
            <a:off x="793790" y="6846094"/>
            <a:ext cx="13042821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Example:</a:t>
            </a: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A tailings dam failure can result in catastrophic environmental and reputational damage.</a:t>
            </a:r>
            <a:endParaRPr lang="en-US" sz="1450" dirty="0"/>
          </a:p>
        </p:txBody>
      </p:sp>
      <p:sp>
        <p:nvSpPr>
          <p:cNvPr id="28" name="Text 20"/>
          <p:cNvSpPr/>
          <p:nvPr/>
        </p:nvSpPr>
        <p:spPr>
          <a:xfrm>
            <a:off x="793790" y="7341751"/>
            <a:ext cx="13042821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Risk management in mining protects life, license, and long-term viability.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09600"/>
            <a:ext cx="4242792" cy="434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Operational Risk Categories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93790" y="1238131"/>
            <a:ext cx="13042821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Mining operational risks typically fall into: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93790" y="1536383"/>
            <a:ext cx="13042821" cy="83355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9030" y="1551623"/>
            <a:ext cx="555665" cy="803077"/>
          </a:xfrm>
          <a:prstGeom prst="roundRect">
            <a:avLst>
              <a:gd name="adj" fmla="val 7210"/>
            </a:avLst>
          </a:prstGeom>
          <a:solidFill>
            <a:srgbClr val="DFECE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8813" y="1848922"/>
            <a:ext cx="208359" cy="2083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1849" y="1690449"/>
            <a:ext cx="1736646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Geotechnical risk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461849" y="1965841"/>
            <a:ext cx="12220694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Rockfall, slope failure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93790" y="2467094"/>
            <a:ext cx="13042821" cy="83355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09030" y="2482334"/>
            <a:ext cx="555665" cy="803077"/>
          </a:xfrm>
          <a:prstGeom prst="roundRect">
            <a:avLst>
              <a:gd name="adj" fmla="val 7210"/>
            </a:avLst>
          </a:prstGeom>
          <a:solidFill>
            <a:srgbClr val="DFECE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8813" y="2779633"/>
            <a:ext cx="208359" cy="20835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1849" y="2621161"/>
            <a:ext cx="1736646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Equipment failure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461849" y="2896553"/>
            <a:ext cx="12220694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Mechanical breakdown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93790" y="3397806"/>
            <a:ext cx="13042821" cy="83355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09030" y="3413046"/>
            <a:ext cx="555665" cy="803077"/>
          </a:xfrm>
          <a:prstGeom prst="roundRect">
            <a:avLst>
              <a:gd name="adj" fmla="val 7210"/>
            </a:avLst>
          </a:prstGeom>
          <a:solidFill>
            <a:srgbClr val="DFECE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8813" y="3710345"/>
            <a:ext cx="208359" cy="20835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1849" y="3551872"/>
            <a:ext cx="1736646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Explosives risk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461849" y="3827264"/>
            <a:ext cx="12220694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Blasting hazards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93790" y="4328517"/>
            <a:ext cx="13042821" cy="83355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809030" y="4343757"/>
            <a:ext cx="555665" cy="803077"/>
          </a:xfrm>
          <a:prstGeom prst="roundRect">
            <a:avLst>
              <a:gd name="adj" fmla="val 7210"/>
            </a:avLst>
          </a:prstGeom>
          <a:solidFill>
            <a:srgbClr val="DFECE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78813" y="4641056"/>
            <a:ext cx="208359" cy="20835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1849" y="4482584"/>
            <a:ext cx="1736646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Ventilation failure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461849" y="4757976"/>
            <a:ext cx="12220694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Air quality compromise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793790" y="5259229"/>
            <a:ext cx="13042821" cy="83355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809030" y="5274469"/>
            <a:ext cx="555665" cy="803077"/>
          </a:xfrm>
          <a:prstGeom prst="roundRect">
            <a:avLst>
              <a:gd name="adj" fmla="val 7210"/>
            </a:avLst>
          </a:prstGeom>
          <a:solidFill>
            <a:srgbClr val="DFECE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78813" y="5571768"/>
            <a:ext cx="208359" cy="20835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61849" y="5413296"/>
            <a:ext cx="1911787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Water ingress or flooding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461849" y="5688687"/>
            <a:ext cx="12220694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Underground inundation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793790" y="6189940"/>
            <a:ext cx="13042821" cy="83355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809030" y="6205180"/>
            <a:ext cx="555665" cy="803077"/>
          </a:xfrm>
          <a:prstGeom prst="roundRect">
            <a:avLst>
              <a:gd name="adj" fmla="val 7210"/>
            </a:avLst>
          </a:prstGeom>
          <a:solidFill>
            <a:srgbClr val="DFECE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78813" y="6502479"/>
            <a:ext cx="208359" cy="20835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461849" y="6344007"/>
            <a:ext cx="1900238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Processing plant hazards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1461849" y="6619399"/>
            <a:ext cx="12220694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Chemical &amp; mechanical risks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793790" y="7132796"/>
            <a:ext cx="13042821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Each category requires specialized controls and monitoring.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793790" y="7431048"/>
            <a:ext cx="13042821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50" b="1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Enterprise risk governance must consolidate site-level exposure.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75504"/>
            <a:ext cx="631829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Underground Mining Hazards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192417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Underground mining presents elevated safety risks due to confined and unstable environments.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301097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Key hazards include: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93790" y="3581400"/>
            <a:ext cx="6955631" cy="1865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Rockbursts and ground collapse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Methane or gas explosion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Ventilation system failure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Equipment collision in narrow tunnels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Water inflow or flooding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93790" y="5669994"/>
            <a:ext cx="6955631" cy="1160740"/>
          </a:xfrm>
          <a:prstGeom prst="roundRect">
            <a:avLst>
              <a:gd name="adj" fmla="val 7182"/>
            </a:avLst>
          </a:prstGeom>
          <a:solidFill>
            <a:srgbClr val="CFE2D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48" y="5942409"/>
            <a:ext cx="248007" cy="1983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38513" y="5917883"/>
            <a:ext cx="611255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Example:</a:t>
            </a:r>
            <a:r>
              <a:rPr lang="en-US" sz="155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Insufficient roof support can lead to ground fall and fatalities.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8098274" y="2812613"/>
            <a:ext cx="5888712" cy="4241363"/>
          </a:xfrm>
          <a:prstGeom prst="roundRect">
            <a:avLst>
              <a:gd name="adj" fmla="val 3369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296632" y="301097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Controls include: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8296632" y="3519488"/>
            <a:ext cx="5491996" cy="1478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Ground support systems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Continuous gas monitoring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Emergency refuge chambers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Ventilation redundancy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8296632" y="5176480"/>
            <a:ext cx="549199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Underground operations demand strict geotechnical monitoring.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01829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Surface Mining Risks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318742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Open-pit mining introduces different but equally significant hazards.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313729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Key risks: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93790" y="3707725"/>
            <a:ext cx="6279356" cy="1865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Slope instability and pit wall collapse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Heavy vehicle collisions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Blasting incidents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Dust exposure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Highwall failure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5751671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Example:</a:t>
            </a: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Improper blast timing can trigger uncontrolled fly rock.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564874" y="313729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Controls include: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7564874" y="3838039"/>
            <a:ext cx="99179" cy="99179"/>
          </a:xfrm>
          <a:prstGeom prst="roundRect">
            <a:avLst>
              <a:gd name="adj" fmla="val 460985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862411" y="3732609"/>
            <a:ext cx="251983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Slope monitoring radar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7564874" y="4545032"/>
            <a:ext cx="99179" cy="99179"/>
          </a:xfrm>
          <a:prstGeom prst="roundRect">
            <a:avLst>
              <a:gd name="adj" fmla="val 460985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862411" y="4439603"/>
            <a:ext cx="282511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Traffic management plans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7564874" y="5252025"/>
            <a:ext cx="99179" cy="99179"/>
          </a:xfrm>
          <a:prstGeom prst="roundRect">
            <a:avLst>
              <a:gd name="adj" fmla="val 460985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862411" y="514659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Blast exclusion zones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7564874" y="5959019"/>
            <a:ext cx="99179" cy="99179"/>
          </a:xfrm>
          <a:prstGeom prst="roundRect">
            <a:avLst>
              <a:gd name="adj" fmla="val 460985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862411" y="5853589"/>
            <a:ext cx="281940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Dust suppression systems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793790" y="6610231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Surface mining risk often escalates with scale.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98590"/>
            <a:ext cx="643592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Equipment &amp; Machinery Risks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115503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Mining relies heavily on high-capacity machinery.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293405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Risks include: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93790" y="3504486"/>
            <a:ext cx="6279356" cy="1478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Haul truck rollover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Conveyor entanglement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Crushing injuries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Maintenance-related incidents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93790" y="5206127"/>
            <a:ext cx="6279356" cy="1160740"/>
          </a:xfrm>
          <a:prstGeom prst="roundRect">
            <a:avLst>
              <a:gd name="adj" fmla="val 7182"/>
            </a:avLst>
          </a:prstGeom>
          <a:solidFill>
            <a:srgbClr val="CFE2D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48" y="5478542"/>
            <a:ext cx="248007" cy="1983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38513" y="5454015"/>
            <a:ext cx="5436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Definition:</a:t>
            </a:r>
            <a:r>
              <a:rPr lang="en-US" sz="155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Mechanical integrity refers to maintaining equipment to prevent unexpected failure.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564874" y="293405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Controls:</a:t>
            </a:r>
            <a:endParaRPr lang="en-US" sz="2300" dirty="0"/>
          </a:p>
        </p:txBody>
      </p:sp>
      <p:sp>
        <p:nvSpPr>
          <p:cNvPr id="10" name="Shape 7"/>
          <p:cNvSpPr/>
          <p:nvPr/>
        </p:nvSpPr>
        <p:spPr>
          <a:xfrm>
            <a:off x="7564874" y="3529370"/>
            <a:ext cx="3040499" cy="1062752"/>
          </a:xfrm>
          <a:prstGeom prst="roundRect">
            <a:avLst>
              <a:gd name="adj" fmla="val 10325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542014" y="3529370"/>
            <a:ext cx="91440" cy="1062752"/>
          </a:xfrm>
          <a:prstGeom prst="roundRect">
            <a:avLst>
              <a:gd name="adj" fmla="val 91163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854672" y="3750588"/>
            <a:ext cx="2529483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Preventive maintenance programs</a:t>
            </a:r>
            <a:endParaRPr lang="en-US" sz="1950" dirty="0"/>
          </a:p>
        </p:txBody>
      </p:sp>
      <p:sp>
        <p:nvSpPr>
          <p:cNvPr id="13" name="Shape 10"/>
          <p:cNvSpPr/>
          <p:nvPr/>
        </p:nvSpPr>
        <p:spPr>
          <a:xfrm>
            <a:off x="10803731" y="3529370"/>
            <a:ext cx="3040499" cy="1062752"/>
          </a:xfrm>
          <a:prstGeom prst="roundRect">
            <a:avLst>
              <a:gd name="adj" fmla="val 10325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0780871" y="3529370"/>
            <a:ext cx="91440" cy="1062752"/>
          </a:xfrm>
          <a:prstGeom prst="roundRect">
            <a:avLst>
              <a:gd name="adj" fmla="val 91163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1093529" y="3750588"/>
            <a:ext cx="251555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Lockout/Tagout (LOTO)</a:t>
            </a:r>
            <a:endParaRPr lang="en-US" sz="1950" dirty="0"/>
          </a:p>
        </p:txBody>
      </p:sp>
      <p:sp>
        <p:nvSpPr>
          <p:cNvPr id="16" name="Shape 13"/>
          <p:cNvSpPr/>
          <p:nvPr/>
        </p:nvSpPr>
        <p:spPr>
          <a:xfrm>
            <a:off x="7564874" y="4790480"/>
            <a:ext cx="3040499" cy="1062752"/>
          </a:xfrm>
          <a:prstGeom prst="roundRect">
            <a:avLst>
              <a:gd name="adj" fmla="val 10325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7542014" y="4790480"/>
            <a:ext cx="91440" cy="1062752"/>
          </a:xfrm>
          <a:prstGeom prst="roundRect">
            <a:avLst>
              <a:gd name="adj" fmla="val 91163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854672" y="501169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Operator certification</a:t>
            </a:r>
            <a:endParaRPr lang="en-US" sz="1950" dirty="0"/>
          </a:p>
        </p:txBody>
      </p:sp>
      <p:sp>
        <p:nvSpPr>
          <p:cNvPr id="19" name="Shape 16"/>
          <p:cNvSpPr/>
          <p:nvPr/>
        </p:nvSpPr>
        <p:spPr>
          <a:xfrm>
            <a:off x="10803731" y="4790480"/>
            <a:ext cx="3040499" cy="1062752"/>
          </a:xfrm>
          <a:prstGeom prst="roundRect">
            <a:avLst>
              <a:gd name="adj" fmla="val 10325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10780871" y="4790480"/>
            <a:ext cx="91440" cy="1062752"/>
          </a:xfrm>
          <a:prstGeom prst="roundRect">
            <a:avLst>
              <a:gd name="adj" fmla="val 91163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1093529" y="5011698"/>
            <a:ext cx="2529483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Telematics monitoring systems</a:t>
            </a:r>
            <a:endParaRPr lang="en-US" sz="1950" dirty="0"/>
          </a:p>
        </p:txBody>
      </p:sp>
      <p:sp>
        <p:nvSpPr>
          <p:cNvPr id="22" name="Text 19"/>
          <p:cNvSpPr/>
          <p:nvPr/>
        </p:nvSpPr>
        <p:spPr>
          <a:xfrm>
            <a:off x="793790" y="6813352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Equipment risk is one of the largest contributors to serious injuries.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9503" y="551021"/>
            <a:ext cx="5282089" cy="555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Environmental Compliance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789503" y="1423988"/>
            <a:ext cx="13051393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Mining significantly impacts land, water, and ecosystems.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89503" y="1999059"/>
            <a:ext cx="3278981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Environmental risks include:</a:t>
            </a:r>
            <a:endParaRPr lang="en-US" sz="20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9503" y="2570559"/>
            <a:ext cx="443984" cy="4439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89503" y="3213259"/>
            <a:ext cx="2220397" cy="277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Acid mine drainage</a:t>
            </a:r>
            <a:endParaRPr lang="en-US" sz="1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06127" y="2570559"/>
            <a:ext cx="443984" cy="4439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06127" y="3213259"/>
            <a:ext cx="2220397" cy="277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Tailings dam failure</a:t>
            </a:r>
            <a:endParaRPr lang="en-US" sz="1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22869" y="2570559"/>
            <a:ext cx="443984" cy="4439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22869" y="3213259"/>
            <a:ext cx="2220397" cy="277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Dust pollution</a:t>
            </a:r>
            <a:endParaRPr lang="en-US" sz="17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9503" y="3808690"/>
            <a:ext cx="443984" cy="44398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89503" y="4451390"/>
            <a:ext cx="2220397" cy="277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Water contamination</a:t>
            </a:r>
            <a:endParaRPr lang="en-US" sz="17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06127" y="3808690"/>
            <a:ext cx="443984" cy="44398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206127" y="4451390"/>
            <a:ext cx="2220397" cy="277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Biodiversity loss</a:t>
            </a:r>
            <a:endParaRPr lang="en-US" sz="1700" dirty="0"/>
          </a:p>
        </p:txBody>
      </p:sp>
      <p:sp>
        <p:nvSpPr>
          <p:cNvPr id="15" name="Text 8"/>
          <p:cNvSpPr/>
          <p:nvPr/>
        </p:nvSpPr>
        <p:spPr>
          <a:xfrm>
            <a:off x="789503" y="4907756"/>
            <a:ext cx="13051393" cy="26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Example:</a:t>
            </a: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Poor tailings management can cause downstream contamination and regulatory shutdown.</a:t>
            </a:r>
            <a:endParaRPr lang="en-US" sz="1350" dirty="0"/>
          </a:p>
        </p:txBody>
      </p:sp>
      <p:sp>
        <p:nvSpPr>
          <p:cNvPr id="16" name="Text 9"/>
          <p:cNvSpPr/>
          <p:nvPr/>
        </p:nvSpPr>
        <p:spPr>
          <a:xfrm>
            <a:off x="789503" y="5415439"/>
            <a:ext cx="2664500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Controls:</a:t>
            </a:r>
            <a:endParaRPr lang="en-US" sz="2050" dirty="0"/>
          </a:p>
        </p:txBody>
      </p:sp>
      <p:sp>
        <p:nvSpPr>
          <p:cNvPr id="17" name="Text 10"/>
          <p:cNvSpPr/>
          <p:nvPr/>
        </p:nvSpPr>
        <p:spPr>
          <a:xfrm>
            <a:off x="789503" y="5986939"/>
            <a:ext cx="13051393" cy="1243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Environmental monitoring systems</a:t>
            </a:r>
            <a:endParaRPr lang="en-US" sz="13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Water treatment plants</a:t>
            </a:r>
            <a:endParaRPr lang="en-US" sz="13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Rehabilitation planning</a:t>
            </a:r>
            <a:endParaRPr lang="en-US" sz="13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Tailings dam integrity inspections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789503" y="7409378"/>
            <a:ext cx="13051393" cy="26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Environmental governance protects social license to operate.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87611"/>
            <a:ext cx="500848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Worker Health &amp; Safety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904524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Occupational health risks in mining include: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2445306"/>
            <a:ext cx="3111937" cy="722114"/>
          </a:xfrm>
          <a:prstGeom prst="roundRect">
            <a:avLst>
              <a:gd name="adj" fmla="val 11544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99768" y="265128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Silica dust (silicosis)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4104084" y="2445306"/>
            <a:ext cx="3111937" cy="722114"/>
          </a:xfrm>
          <a:prstGeom prst="roundRect">
            <a:avLst>
              <a:gd name="adj" fmla="val 11544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10063" y="265128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Noise exposure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7414379" y="2445306"/>
            <a:ext cx="3111937" cy="722114"/>
          </a:xfrm>
          <a:prstGeom prst="roundRect">
            <a:avLst>
              <a:gd name="adj" fmla="val 11544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620357" y="2651284"/>
            <a:ext cx="269664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Diesel particulate matter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0724674" y="2445306"/>
            <a:ext cx="3111937" cy="722114"/>
          </a:xfrm>
          <a:prstGeom prst="roundRect">
            <a:avLst>
              <a:gd name="adj" fmla="val 11544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930652" y="265128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Heat stress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793790" y="3390662"/>
            <a:ext cx="13042821" cy="843201"/>
          </a:xfrm>
          <a:prstGeom prst="roundRect">
            <a:avLst>
              <a:gd name="adj" fmla="val 9886"/>
            </a:avLst>
          </a:prstGeom>
          <a:solidFill>
            <a:srgbClr val="CFE2D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48" y="3663077"/>
            <a:ext cx="248007" cy="19835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438513" y="3638550"/>
            <a:ext cx="1219973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Definition:</a:t>
            </a:r>
            <a:r>
              <a:rPr lang="en-US" sz="155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Occupational health focuses on long-term exposure risks, not just immediate injury.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793790" y="453151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Controls include:</a:t>
            </a:r>
            <a:endParaRPr lang="en-US" sz="23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8204" y="5207318"/>
            <a:ext cx="297656" cy="29765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438632" y="520124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Respiratory protection</a:t>
            </a:r>
            <a:endParaRPr lang="en-US" sz="195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13558" y="5207318"/>
            <a:ext cx="297656" cy="2976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083987" y="5201245"/>
            <a:ext cx="287821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Noise mitigation programs</a:t>
            </a:r>
            <a:endParaRPr lang="en-US" sz="195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8204" y="6205657"/>
            <a:ext cx="297656" cy="2976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38632" y="619958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Health surveillance</a:t>
            </a:r>
            <a:endParaRPr lang="en-US" sz="195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13558" y="6205657"/>
            <a:ext cx="297656" cy="29765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083987" y="6199584"/>
            <a:ext cx="325886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Fatigue management systems</a:t>
            </a:r>
            <a:endParaRPr lang="en-US" sz="1950" dirty="0"/>
          </a:p>
        </p:txBody>
      </p:sp>
      <p:sp>
        <p:nvSpPr>
          <p:cNvPr id="24" name="Text 17"/>
          <p:cNvSpPr/>
          <p:nvPr/>
        </p:nvSpPr>
        <p:spPr>
          <a:xfrm>
            <a:off x="793790" y="7024330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Safety culture must be embedded at all operational levels.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97399"/>
            <a:ext cx="513659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Risk Assessment Matrix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114312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Mining risk assessment evaluates: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091446" y="2957751"/>
            <a:ext cx="12745164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Likelihood × Consequence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793790" y="2734508"/>
            <a:ext cx="22860" cy="843439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93790" y="3875603"/>
            <a:ext cx="441995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Consequence dimensions include: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770930" y="4545330"/>
            <a:ext cx="4227909" cy="45720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93790" y="478940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Fatality potential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5201126" y="4545330"/>
            <a:ext cx="4228028" cy="45720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223986" y="4789408"/>
            <a:ext cx="254365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Environmental damage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631442" y="4545330"/>
            <a:ext cx="4228028" cy="45720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54302" y="478940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Production downtime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770930" y="5496401"/>
            <a:ext cx="6443067" cy="45720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93790" y="574047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Financial loss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7416284" y="5496401"/>
            <a:ext cx="6443186" cy="45720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439144" y="574047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Regulatory impact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793790" y="6273879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Example:</a:t>
            </a: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A tailings breach may have low likelihood but extreme consequence.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93790" y="6814661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High-consequence low-frequency (HCLF) events must receive board visibility.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03910"/>
            <a:ext cx="632233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Hazard Identification Process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820823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Hazard identification should be systematic and documented.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251543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Methods include: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793790" y="3482816"/>
            <a:ext cx="3111937" cy="1337667"/>
          </a:xfrm>
          <a:prstGeom prst="roundRect">
            <a:avLst>
              <a:gd name="adj" fmla="val 820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93790" y="3459956"/>
            <a:ext cx="3111937" cy="91440"/>
          </a:xfrm>
          <a:prstGeom prst="roundRect">
            <a:avLst>
              <a:gd name="adj" fmla="val 91163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052042" y="3185160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30636" y="3333988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1015008" y="3978950"/>
            <a:ext cx="2669500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Pre-task risk assessments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4104084" y="3482816"/>
            <a:ext cx="3111937" cy="1337667"/>
          </a:xfrm>
          <a:prstGeom prst="roundRect">
            <a:avLst>
              <a:gd name="adj" fmla="val 820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104084" y="3459956"/>
            <a:ext cx="3111937" cy="91440"/>
          </a:xfrm>
          <a:prstGeom prst="roundRect">
            <a:avLst>
              <a:gd name="adj" fmla="val 91163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362337" y="3185160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540931" y="3333988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4325303" y="3978950"/>
            <a:ext cx="2669500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Job Safety Analysis (JSA)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7414379" y="3482816"/>
            <a:ext cx="3111937" cy="1337667"/>
          </a:xfrm>
          <a:prstGeom prst="roundRect">
            <a:avLst>
              <a:gd name="adj" fmla="val 820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414379" y="3459956"/>
            <a:ext cx="3111937" cy="91440"/>
          </a:xfrm>
          <a:prstGeom prst="roundRect">
            <a:avLst>
              <a:gd name="adj" fmla="val 91163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72632" y="3185160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851225" y="3333988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7635597" y="3978950"/>
            <a:ext cx="2669500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Geotechnical inspections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0724674" y="3482816"/>
            <a:ext cx="3111937" cy="1337667"/>
          </a:xfrm>
          <a:prstGeom prst="roundRect">
            <a:avLst>
              <a:gd name="adj" fmla="val 820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724674" y="3459956"/>
            <a:ext cx="3111937" cy="91440"/>
          </a:xfrm>
          <a:prstGeom prst="roundRect">
            <a:avLst>
              <a:gd name="adj" fmla="val 91163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982926" y="3185160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2161520" y="3333988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4</a:t>
            </a:r>
            <a:endParaRPr lang="en-US" sz="1850" dirty="0"/>
          </a:p>
        </p:txBody>
      </p:sp>
      <p:sp>
        <p:nvSpPr>
          <p:cNvPr id="24" name="Text 22"/>
          <p:cNvSpPr/>
          <p:nvPr/>
        </p:nvSpPr>
        <p:spPr>
          <a:xfrm>
            <a:off x="10945892" y="397895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Safety walk-throughs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793790" y="5316498"/>
            <a:ext cx="13042821" cy="1027509"/>
          </a:xfrm>
          <a:prstGeom prst="roundRect">
            <a:avLst>
              <a:gd name="adj" fmla="val 1067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93790" y="5293638"/>
            <a:ext cx="13042821" cy="91440"/>
          </a:xfrm>
          <a:prstGeom prst="roundRect">
            <a:avLst>
              <a:gd name="adj" fmla="val 91163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017544" y="5018842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196137" y="5167670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5</a:t>
            </a:r>
            <a:endParaRPr lang="en-US" sz="1850" dirty="0"/>
          </a:p>
        </p:txBody>
      </p:sp>
      <p:sp>
        <p:nvSpPr>
          <p:cNvPr id="29" name="Text 27"/>
          <p:cNvSpPr/>
          <p:nvPr/>
        </p:nvSpPr>
        <p:spPr>
          <a:xfrm>
            <a:off x="1015008" y="581263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Incident trend analysis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793790" y="6567249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Example:</a:t>
            </a: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Identifying unstable rock formations before drilling begins.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793790" y="7108031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Proactive hazard identification prevents escalation.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7241" y="549354"/>
            <a:ext cx="4674751" cy="584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Control Hierarchy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787241" y="1485900"/>
            <a:ext cx="13055918" cy="363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hierarchy of controls ranks safety measures by effectiveness: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4949" y="2047042"/>
            <a:ext cx="1292423" cy="6659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919657" y="2287429"/>
            <a:ext cx="262890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4884301" y="2233970"/>
            <a:ext cx="1170146" cy="292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Elimination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744045" y="2726769"/>
            <a:ext cx="9052441" cy="11430"/>
          </a:xfrm>
          <a:prstGeom prst="roundRect">
            <a:avLst>
              <a:gd name="adj" fmla="val 687111"/>
            </a:avLst>
          </a:prstGeom>
          <a:solidFill>
            <a:srgbClr val="C5D2C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8678" y="2759631"/>
            <a:ext cx="2584966" cy="66591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19657" y="2928223"/>
            <a:ext cx="262890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</a:t>
            </a:r>
            <a:endParaRPr lang="en-US" sz="2050" dirty="0"/>
          </a:p>
        </p:txBody>
      </p:sp>
      <p:sp>
        <p:nvSpPr>
          <p:cNvPr id="10" name="Text 6"/>
          <p:cNvSpPr/>
          <p:nvPr/>
        </p:nvSpPr>
        <p:spPr>
          <a:xfrm>
            <a:off x="5530572" y="2946559"/>
            <a:ext cx="1265753" cy="292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Substitution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5390317" y="3439358"/>
            <a:ext cx="8406170" cy="11430"/>
          </a:xfrm>
          <a:prstGeom prst="roundRect">
            <a:avLst>
              <a:gd name="adj" fmla="val 687111"/>
            </a:avLst>
          </a:prstGeom>
          <a:solidFill>
            <a:srgbClr val="C5D2C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2407" y="3472220"/>
            <a:ext cx="3877508" cy="66591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919657" y="3640812"/>
            <a:ext cx="262890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</a:t>
            </a:r>
            <a:endParaRPr lang="en-US" sz="2050" dirty="0"/>
          </a:p>
        </p:txBody>
      </p:sp>
      <p:sp>
        <p:nvSpPr>
          <p:cNvPr id="14" name="Text 9"/>
          <p:cNvSpPr/>
          <p:nvPr/>
        </p:nvSpPr>
        <p:spPr>
          <a:xfrm>
            <a:off x="6176843" y="3659148"/>
            <a:ext cx="1224558" cy="292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Engineering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6036588" y="4151947"/>
            <a:ext cx="7759898" cy="11430"/>
          </a:xfrm>
          <a:prstGeom prst="roundRect">
            <a:avLst>
              <a:gd name="adj" fmla="val 687111"/>
            </a:avLst>
          </a:prstGeom>
          <a:solidFill>
            <a:srgbClr val="C5D2C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6136" y="4184809"/>
            <a:ext cx="5170051" cy="66591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919657" y="4353401"/>
            <a:ext cx="262890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4</a:t>
            </a:r>
            <a:endParaRPr lang="en-US" sz="2050" dirty="0"/>
          </a:p>
        </p:txBody>
      </p:sp>
      <p:sp>
        <p:nvSpPr>
          <p:cNvPr id="18" name="Text 12"/>
          <p:cNvSpPr/>
          <p:nvPr/>
        </p:nvSpPr>
        <p:spPr>
          <a:xfrm>
            <a:off x="6823115" y="4371737"/>
            <a:ext cx="1498640" cy="292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Administrative</a:t>
            </a:r>
            <a:endParaRPr lang="en-US" sz="1800" dirty="0"/>
          </a:p>
        </p:txBody>
      </p:sp>
      <p:sp>
        <p:nvSpPr>
          <p:cNvPr id="19" name="Shape 13"/>
          <p:cNvSpPr/>
          <p:nvPr/>
        </p:nvSpPr>
        <p:spPr>
          <a:xfrm>
            <a:off x="6682859" y="4864537"/>
            <a:ext cx="7113627" cy="11430"/>
          </a:xfrm>
          <a:prstGeom prst="roundRect">
            <a:avLst>
              <a:gd name="adj" fmla="val 687111"/>
            </a:avLst>
          </a:prstGeom>
          <a:solidFill>
            <a:srgbClr val="C5D2C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864" y="4897398"/>
            <a:ext cx="6462593" cy="665917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919657" y="5065990"/>
            <a:ext cx="262890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5</a:t>
            </a:r>
            <a:endParaRPr lang="en-US" sz="2050" dirty="0"/>
          </a:p>
        </p:txBody>
      </p:sp>
      <p:sp>
        <p:nvSpPr>
          <p:cNvPr id="22" name="Text 15"/>
          <p:cNvSpPr/>
          <p:nvPr/>
        </p:nvSpPr>
        <p:spPr>
          <a:xfrm>
            <a:off x="7469386" y="5084326"/>
            <a:ext cx="401598" cy="292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PPE</a:t>
            </a:r>
            <a:endParaRPr lang="en-US" sz="1800" dirty="0"/>
          </a:p>
        </p:txBody>
      </p:sp>
      <p:sp>
        <p:nvSpPr>
          <p:cNvPr id="23" name="Text 16"/>
          <p:cNvSpPr/>
          <p:nvPr/>
        </p:nvSpPr>
        <p:spPr>
          <a:xfrm>
            <a:off x="787241" y="5919907"/>
            <a:ext cx="6299835" cy="1698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Font typeface="+mj-lt"/>
              <a:buAutoNum type="arabicPeriod"/>
            </a:pPr>
            <a:r>
              <a:rPr lang="en-US" sz="14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Elimination</a:t>
            </a: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– Remove hazard</a:t>
            </a:r>
            <a:endParaRPr lang="en-US" sz="1450" dirty="0"/>
          </a:p>
          <a:p>
            <a:pPr marL="342900" indent="-342900" algn="l">
              <a:lnSpc>
                <a:spcPts val="2250"/>
              </a:lnSpc>
              <a:buSzPct val="100000"/>
              <a:buFont typeface="+mj-lt"/>
              <a:buAutoNum type="arabicPeriod" startAt="2"/>
            </a:pPr>
            <a:r>
              <a:rPr lang="en-US" sz="14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Substitution</a:t>
            </a: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– Replace hazard</a:t>
            </a:r>
            <a:endParaRPr lang="en-US" sz="1450" dirty="0"/>
          </a:p>
          <a:p>
            <a:pPr marL="342900" indent="-342900" algn="l">
              <a:lnSpc>
                <a:spcPts val="2250"/>
              </a:lnSpc>
              <a:buSzPct val="100000"/>
              <a:buFont typeface="+mj-lt"/>
              <a:buAutoNum type="arabicPeriod" startAt="3"/>
            </a:pPr>
            <a:r>
              <a:rPr lang="en-US" sz="14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Engineering controls</a:t>
            </a: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– Physical barriers</a:t>
            </a:r>
            <a:endParaRPr lang="en-US" sz="1450" dirty="0"/>
          </a:p>
          <a:p>
            <a:pPr marL="342900" indent="-342900" algn="l">
              <a:lnSpc>
                <a:spcPts val="2250"/>
              </a:lnSpc>
              <a:buSzPct val="100000"/>
              <a:buFont typeface="+mj-lt"/>
              <a:buAutoNum type="arabicPeriod" startAt="4"/>
            </a:pPr>
            <a:r>
              <a:rPr lang="en-US" sz="14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Administrative controls</a:t>
            </a: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– Policies &amp; procedures</a:t>
            </a:r>
            <a:endParaRPr lang="en-US" sz="1450" dirty="0"/>
          </a:p>
          <a:p>
            <a:pPr marL="342900" indent="-342900" algn="l">
              <a:lnSpc>
                <a:spcPts val="2250"/>
              </a:lnSpc>
              <a:buSzPct val="100000"/>
              <a:buFont typeface="+mj-lt"/>
              <a:buAutoNum type="arabicPeriod" startAt="5"/>
            </a:pPr>
            <a:r>
              <a:rPr lang="en-US" sz="14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PPE</a:t>
            </a: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– Personal protective equipment</a:t>
            </a:r>
            <a:endParaRPr lang="en-US" sz="1450" dirty="0"/>
          </a:p>
        </p:txBody>
      </p:sp>
      <p:sp>
        <p:nvSpPr>
          <p:cNvPr id="24" name="Shape 17"/>
          <p:cNvSpPr/>
          <p:nvPr/>
        </p:nvSpPr>
        <p:spPr>
          <a:xfrm>
            <a:off x="7416284" y="5761434"/>
            <a:ext cx="6569154" cy="1918811"/>
          </a:xfrm>
          <a:prstGeom prst="roundRect">
            <a:avLst>
              <a:gd name="adj" fmla="val 7017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8"/>
          <p:cNvSpPr/>
          <p:nvPr/>
        </p:nvSpPr>
        <p:spPr>
          <a:xfrm>
            <a:off x="7603212" y="5919907"/>
            <a:ext cx="6195298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Example:</a:t>
            </a:r>
            <a:r>
              <a:rPr lang="en-US" sz="14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Installing physical guards (engineering control) is more effective than relying solely on PPE.</a:t>
            </a:r>
            <a:endParaRPr lang="en-US" sz="1450" dirty="0"/>
          </a:p>
        </p:txBody>
      </p:sp>
      <p:sp>
        <p:nvSpPr>
          <p:cNvPr id="26" name="Text 19"/>
          <p:cNvSpPr/>
          <p:nvPr/>
        </p:nvSpPr>
        <p:spPr>
          <a:xfrm>
            <a:off x="7603212" y="6659404"/>
            <a:ext cx="6195298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Mining safety governance should prioritize elimination and engineering solutions.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20829"/>
            <a:ext cx="670929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Emergency Response Planning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937742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Mining emergency preparedness must address: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793790" y="2557939"/>
            <a:ext cx="3111937" cy="1032272"/>
          </a:xfrm>
          <a:prstGeom prst="roundRect">
            <a:avLst>
              <a:gd name="adj" fmla="val 807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99768" y="2763917"/>
            <a:ext cx="2699980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Underground entrapment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4104084" y="2557939"/>
            <a:ext cx="3111937" cy="1032272"/>
          </a:xfrm>
          <a:prstGeom prst="roundRect">
            <a:avLst>
              <a:gd name="adj" fmla="val 807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10063" y="276391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Explosion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7414379" y="2557939"/>
            <a:ext cx="3111937" cy="1032272"/>
          </a:xfrm>
          <a:prstGeom prst="roundRect">
            <a:avLst>
              <a:gd name="adj" fmla="val 807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620357" y="276391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Fire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0724674" y="2557939"/>
            <a:ext cx="3111937" cy="1032272"/>
          </a:xfrm>
          <a:prstGeom prst="roundRect">
            <a:avLst>
              <a:gd name="adj" fmla="val 807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930652" y="276391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Tailings failure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793790" y="3788569"/>
            <a:ext cx="13042821" cy="722114"/>
          </a:xfrm>
          <a:prstGeom prst="roundRect">
            <a:avLst>
              <a:gd name="adj" fmla="val 11544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99768" y="399454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Chemical spill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93790" y="480833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Key elements: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793790" y="5478066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438632" y="5546288"/>
            <a:ext cx="300263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Emergency response teams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7439144" y="5478066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083987" y="554628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Mine rescue capability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793790" y="6321385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438632" y="6389608"/>
            <a:ext cx="264806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Regular simulation drills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7439144" y="6321385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083987" y="6389608"/>
            <a:ext cx="282952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Communication protocols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793790" y="6991112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Response time directly impacts survival outcomes.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01829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Regulatory Framework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318742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Mining operations are regulated by: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313729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Key Regulations: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93790" y="3707725"/>
            <a:ext cx="6279356" cy="1865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Occupational health &amp; safety legislation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Environmental permits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Explosives regulations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Water usage licenses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Mine closure requirements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564874" y="3137297"/>
            <a:ext cx="3897154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Non-compliance can result in: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7542014" y="3709749"/>
            <a:ext cx="45720" cy="355878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808952" y="373260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Fines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7542014" y="4416743"/>
            <a:ext cx="45720" cy="355878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808952" y="443960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Shutdown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7542014" y="5123736"/>
            <a:ext cx="45720" cy="355878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808952" y="514659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Criminal liability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7542014" y="5830729"/>
            <a:ext cx="45720" cy="355878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808952" y="585358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License suspension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793790" y="6610231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Regulatory governance must be embedded in risk registers.</a:t>
            </a:r>
            <a:endParaRPr lang="en-US" sz="1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82729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Incident Investigation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899642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Incident investigations must focus on </a:t>
            </a:r>
            <a:r>
              <a:rPr lang="en-US" sz="1950" b="1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root cause, not blame</a:t>
            </a:r>
            <a:r>
              <a:rPr lang="en-US" sz="1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.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259425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Tools include:</a:t>
            </a:r>
            <a:endParaRPr lang="en-US" sz="2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263979"/>
            <a:ext cx="6521410" cy="7937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92148" y="425612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5 Whys</a:t>
            </a:r>
            <a:endParaRPr lang="en-US" sz="1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3263979"/>
            <a:ext cx="6521410" cy="79379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13558" y="425612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Fishbone diagrams</a:t>
            </a:r>
            <a:endParaRPr lang="en-US" sz="1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764643"/>
            <a:ext cx="6521410" cy="79379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92148" y="575679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Barrier analysis</a:t>
            </a:r>
            <a:endParaRPr lang="en-US" sz="19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764643"/>
            <a:ext cx="6521410" cy="79379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513558" y="5756791"/>
            <a:ext cx="292131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Human factors assessment</a:t>
            </a:r>
            <a:endParaRPr lang="en-US" sz="1950" dirty="0"/>
          </a:p>
        </p:txBody>
      </p:sp>
      <p:sp>
        <p:nvSpPr>
          <p:cNvPr id="13" name="Text 7"/>
          <p:cNvSpPr/>
          <p:nvPr/>
        </p:nvSpPr>
        <p:spPr>
          <a:xfrm>
            <a:off x="793790" y="6488549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Example:</a:t>
            </a: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Equipment collision may trace back to fatigue scheduling practices.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793790" y="7029331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Lessons learned must be shared across sites.</a:t>
            </a: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20660"/>
            <a:ext cx="645521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Leading vs Lagging Indicators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536752"/>
            <a:ext cx="5232321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Lagging indicators </a:t>
            </a:r>
            <a:r>
              <a:rPr lang="en-US" sz="2300" i="1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measure past events: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4107180"/>
            <a:ext cx="6279356" cy="704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Fatalities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Lost Time Injury Frequency Rate (LTIFR)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421999" y="3338393"/>
            <a:ext cx="6565106" cy="1929646"/>
          </a:xfrm>
          <a:prstGeom prst="roundRect">
            <a:avLst>
              <a:gd name="adj" fmla="val 7406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620357" y="3536752"/>
            <a:ext cx="5284351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Leading indicators </a:t>
            </a:r>
            <a:r>
              <a:rPr lang="en-US" sz="2300" i="1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predict risk exposure: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620357" y="4107180"/>
            <a:ext cx="6168390" cy="109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Near-miss reporting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Safety observation rate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Critical control verification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93790" y="5491282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Leading metrics drive proactive safety management.</a:t>
            </a:r>
            <a:endParaRPr lang="en-US" sz="15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0008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Risk Register Template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036921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Mining risk documentation should include: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793790" y="2657118"/>
            <a:ext cx="13042821" cy="4011573"/>
          </a:xfrm>
          <a:prstGeom prst="roundRect">
            <a:avLst>
              <a:gd name="adj" fmla="val 207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1410" y="2664738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99887" y="2791420"/>
            <a:ext cx="415909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Field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563314" y="2791420"/>
            <a:ext cx="80673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Description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01410" y="3235643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99887" y="3362325"/>
            <a:ext cx="415909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Risk description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5563314" y="3362325"/>
            <a:ext cx="80673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Cause–Event–Impact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01410" y="3806547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99887" y="3933230"/>
            <a:ext cx="415909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Inherent risk rating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5563314" y="3933230"/>
            <a:ext cx="80673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Risk level before controls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01410" y="4377452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99887" y="4504134"/>
            <a:ext cx="415909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Controls in place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563314" y="4504134"/>
            <a:ext cx="80673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Current mitigation measures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801410" y="4948357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99887" y="5075039"/>
            <a:ext cx="415909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Residual risk rating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563314" y="5075039"/>
            <a:ext cx="80673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Risk level after controls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01410" y="5519261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99887" y="5645944"/>
            <a:ext cx="415909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Risk owner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5563314" y="5645944"/>
            <a:ext cx="80673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Accountable individual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801410" y="6090166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99887" y="6216848"/>
            <a:ext cx="415909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Review frequency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5563314" y="6216848"/>
            <a:ext cx="80673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Scheduled reassessment cycle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793790" y="6891933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Standardized registers improve governance reporting.</a:t>
            </a:r>
            <a:endParaRPr lang="en-US" sz="15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90149"/>
            <a:ext cx="528780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Contractor Management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207062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Contractors often represent a large portion of mining workforce exposure.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302561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Risks include: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793790" y="3620929"/>
            <a:ext cx="6279356" cy="752594"/>
          </a:xfrm>
          <a:prstGeom prst="roundRect">
            <a:avLst>
              <a:gd name="adj" fmla="val 14580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0930" y="3620929"/>
            <a:ext cx="91440" cy="752594"/>
          </a:xfrm>
          <a:prstGeom prst="roundRect">
            <a:avLst>
              <a:gd name="adj" fmla="val 91163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83588" y="3842147"/>
            <a:ext cx="287071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Inconsistent safety culture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793790" y="4571881"/>
            <a:ext cx="6279356" cy="752594"/>
          </a:xfrm>
          <a:prstGeom prst="roundRect">
            <a:avLst>
              <a:gd name="adj" fmla="val 14580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0930" y="4571881"/>
            <a:ext cx="91440" cy="752594"/>
          </a:xfrm>
          <a:prstGeom prst="roundRect">
            <a:avLst>
              <a:gd name="adj" fmla="val 91163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83588" y="4793099"/>
            <a:ext cx="268521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Lower training standards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793790" y="5522833"/>
            <a:ext cx="6279356" cy="752594"/>
          </a:xfrm>
          <a:prstGeom prst="roundRect">
            <a:avLst>
              <a:gd name="adj" fmla="val 14580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70930" y="5522833"/>
            <a:ext cx="91440" cy="752594"/>
          </a:xfrm>
          <a:prstGeom prst="roundRect">
            <a:avLst>
              <a:gd name="adj" fmla="val 91163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83588" y="574405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Interface risk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564874" y="302561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Controls: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7564874" y="3726359"/>
            <a:ext cx="99179" cy="99179"/>
          </a:xfrm>
          <a:prstGeom prst="roundRect">
            <a:avLst>
              <a:gd name="adj" fmla="val 460985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862411" y="3620929"/>
            <a:ext cx="293643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Contractor prequalification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7564874" y="4433352"/>
            <a:ext cx="99179" cy="99179"/>
          </a:xfrm>
          <a:prstGeom prst="roundRect">
            <a:avLst>
              <a:gd name="adj" fmla="val 460985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862411" y="4327922"/>
            <a:ext cx="266485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Performance monitoring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7564874" y="5140345"/>
            <a:ext cx="99179" cy="99179"/>
          </a:xfrm>
          <a:prstGeom prst="roundRect">
            <a:avLst>
              <a:gd name="adj" fmla="val 460985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862411" y="503491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Safety audits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793790" y="6721912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Contractor risk must be integrated into enterprise reporting.</a:t>
            </a:r>
            <a:endParaRPr lang="en-US" sz="15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04749"/>
            <a:ext cx="693050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Technology &amp; Automation Risks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821662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Modern mining increasingly relies on: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793790" y="3441859"/>
            <a:ext cx="4215289" cy="722114"/>
          </a:xfrm>
          <a:prstGeom prst="roundRect">
            <a:avLst>
              <a:gd name="adj" fmla="val 65964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99768" y="364783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Autonomous trucks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5207437" y="3441859"/>
            <a:ext cx="4215408" cy="722114"/>
          </a:xfrm>
          <a:prstGeom prst="roundRect">
            <a:avLst>
              <a:gd name="adj" fmla="val 65964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13415" y="3647837"/>
            <a:ext cx="260806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Remote drilling systems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621203" y="3441859"/>
            <a:ext cx="4215289" cy="722114"/>
          </a:xfrm>
          <a:prstGeom prst="roundRect">
            <a:avLst>
              <a:gd name="adj" fmla="val 65964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827181" y="364783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Digital monitoring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93790" y="446162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Risks include: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793790" y="5131356"/>
            <a:ext cx="4215289" cy="752594"/>
          </a:xfrm>
          <a:prstGeom prst="roundRect">
            <a:avLst>
              <a:gd name="adj" fmla="val 11076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15008" y="535257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System failure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5207437" y="5131356"/>
            <a:ext cx="4215408" cy="752594"/>
          </a:xfrm>
          <a:prstGeom prst="roundRect">
            <a:avLst>
              <a:gd name="adj" fmla="val 11076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28655" y="535257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Cybersecurity breach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621203" y="5131356"/>
            <a:ext cx="4215289" cy="752594"/>
          </a:xfrm>
          <a:prstGeom prst="roundRect">
            <a:avLst>
              <a:gd name="adj" fmla="val 11076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842421" y="535257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Skills gaps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793790" y="6107192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Automation reduces exposure but introduces digital risk.</a:t>
            </a:r>
            <a:endParaRPr lang="en-US" sz="15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67847"/>
            <a:ext cx="695432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Community &amp; Stakeholder Risks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884759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Mining operations affect surrounding communities.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257937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Risks include:</a:t>
            </a:r>
            <a:endParaRPr lang="en-US" sz="2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3249097"/>
            <a:ext cx="496133" cy="49613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399323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Land disputes</a:t>
            </a:r>
            <a:endParaRPr lang="en-US" sz="1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39144" y="3249097"/>
            <a:ext cx="496133" cy="49613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39144" y="399323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Water access conflicts</a:t>
            </a:r>
            <a:endParaRPr lang="en-US" sz="1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4700230"/>
            <a:ext cx="496133" cy="49613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3790" y="544437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Social unrest</a:t>
            </a:r>
            <a:endParaRPr lang="en-US" sz="19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39144" y="4700230"/>
            <a:ext cx="496133" cy="49613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439144" y="544437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Labor strikes</a:t>
            </a:r>
            <a:endParaRPr lang="en-US" sz="1950" dirty="0"/>
          </a:p>
        </p:txBody>
      </p:sp>
      <p:sp>
        <p:nvSpPr>
          <p:cNvPr id="13" name="Shape 7"/>
          <p:cNvSpPr/>
          <p:nvPr/>
        </p:nvSpPr>
        <p:spPr>
          <a:xfrm>
            <a:off x="793790" y="5977771"/>
            <a:ext cx="13042821" cy="843201"/>
          </a:xfrm>
          <a:prstGeom prst="roundRect">
            <a:avLst>
              <a:gd name="adj" fmla="val 9886"/>
            </a:avLst>
          </a:prstGeom>
          <a:solidFill>
            <a:srgbClr val="CFE2D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2148" y="6250186"/>
            <a:ext cx="248007" cy="19835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438513" y="6225659"/>
            <a:ext cx="1219973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Definition:</a:t>
            </a:r>
            <a:r>
              <a:rPr lang="en-US" sz="155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Social license to operate refers to ongoing community acceptance of mining activities.</a:t>
            </a:r>
            <a:endParaRPr lang="en-US" sz="1550" dirty="0"/>
          </a:p>
        </p:txBody>
      </p:sp>
      <p:sp>
        <p:nvSpPr>
          <p:cNvPr id="16" name="Text 9"/>
          <p:cNvSpPr/>
          <p:nvPr/>
        </p:nvSpPr>
        <p:spPr>
          <a:xfrm>
            <a:off x="793790" y="7044214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Strong stakeholder engagement reduces operational disruption.</a:t>
            </a:r>
            <a:endParaRPr lang="en-US" sz="15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2343" y="448508"/>
            <a:ext cx="3045262" cy="331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Implementation Roadmap</a:t>
            </a:r>
            <a:endParaRPr lang="en-US" sz="2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4302" y="892969"/>
            <a:ext cx="8661678" cy="37413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51238" y="3329180"/>
            <a:ext cx="1286083" cy="468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Standardize Controls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5051238" y="3864278"/>
            <a:ext cx="1286083" cy="430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Define hazards and control standards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8353568" y="3329180"/>
            <a:ext cx="1286083" cy="468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Enhance Reporting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353568" y="3864278"/>
            <a:ext cx="1286083" cy="430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Improve dashboards and reports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404172" y="1230560"/>
            <a:ext cx="1286083" cy="468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Gap Assessment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3404172" y="1765658"/>
            <a:ext cx="1286083" cy="287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Assess risk and compliance gaps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9951575" y="1230560"/>
            <a:ext cx="1286083" cy="468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Continuous Assurance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9951575" y="1765658"/>
            <a:ext cx="1286083" cy="430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Ongoing improvement and oversight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722898" y="1230560"/>
            <a:ext cx="1286083" cy="468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Integrate Register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722898" y="1765658"/>
            <a:ext cx="1286083" cy="287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Consolidate risks into register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307580" y="4697968"/>
            <a:ext cx="15240" cy="2918341"/>
          </a:xfrm>
          <a:prstGeom prst="roundRect">
            <a:avLst>
              <a:gd name="adj" fmla="val 292165"/>
            </a:avLst>
          </a:prstGeom>
          <a:solidFill>
            <a:srgbClr val="C5D2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893183" y="4809530"/>
            <a:ext cx="318016" cy="15240"/>
          </a:xfrm>
          <a:prstGeom prst="roundRect">
            <a:avLst>
              <a:gd name="adj" fmla="val 292165"/>
            </a:avLst>
          </a:prstGeom>
          <a:solidFill>
            <a:srgbClr val="C5D2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7195959" y="4697968"/>
            <a:ext cx="238482" cy="238482"/>
          </a:xfrm>
          <a:prstGeom prst="roundRect">
            <a:avLst>
              <a:gd name="adj" fmla="val 18671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235666" y="4717792"/>
            <a:ext cx="158948" cy="198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459968" y="4734401"/>
            <a:ext cx="1325166" cy="165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3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Phase 1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52343" y="4933950"/>
            <a:ext cx="6132790" cy="130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00"/>
              </a:lnSpc>
              <a:buNone/>
            </a:pPr>
            <a:r>
              <a:rPr lang="en-US" sz="8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Risk &amp; Compliance Gap Assessment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7419201" y="5346740"/>
            <a:ext cx="318016" cy="15240"/>
          </a:xfrm>
          <a:prstGeom prst="roundRect">
            <a:avLst>
              <a:gd name="adj" fmla="val 292165"/>
            </a:avLst>
          </a:prstGeom>
          <a:solidFill>
            <a:srgbClr val="C5D2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7195959" y="5235178"/>
            <a:ext cx="238482" cy="238482"/>
          </a:xfrm>
          <a:prstGeom prst="roundRect">
            <a:avLst>
              <a:gd name="adj" fmla="val 18671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235666" y="5255002"/>
            <a:ext cx="158948" cy="198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845266" y="5271611"/>
            <a:ext cx="1325166" cy="165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Phase 2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845266" y="5471160"/>
            <a:ext cx="6132790" cy="130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Hazard &amp; Control Standardization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6893183" y="5845612"/>
            <a:ext cx="318016" cy="15240"/>
          </a:xfrm>
          <a:prstGeom prst="roundRect">
            <a:avLst>
              <a:gd name="adj" fmla="val 292165"/>
            </a:avLst>
          </a:prstGeom>
          <a:solidFill>
            <a:srgbClr val="C5D2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7195959" y="5734050"/>
            <a:ext cx="238482" cy="238482"/>
          </a:xfrm>
          <a:prstGeom prst="roundRect">
            <a:avLst>
              <a:gd name="adj" fmla="val 18671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7235666" y="5753874"/>
            <a:ext cx="158948" cy="198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5459968" y="5770483"/>
            <a:ext cx="1325166" cy="165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3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Phase 3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52343" y="5970032"/>
            <a:ext cx="6132790" cy="130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00"/>
              </a:lnSpc>
              <a:buNone/>
            </a:pPr>
            <a:r>
              <a:rPr lang="en-US" sz="8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Risk Register Integration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7419201" y="6344483"/>
            <a:ext cx="318016" cy="15240"/>
          </a:xfrm>
          <a:prstGeom prst="roundRect">
            <a:avLst>
              <a:gd name="adj" fmla="val 292165"/>
            </a:avLst>
          </a:prstGeom>
          <a:solidFill>
            <a:srgbClr val="C5D2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7195959" y="6232922"/>
            <a:ext cx="238482" cy="238482"/>
          </a:xfrm>
          <a:prstGeom prst="roundRect">
            <a:avLst>
              <a:gd name="adj" fmla="val 18671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7235666" y="6252746"/>
            <a:ext cx="158948" cy="198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4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7845266" y="6269355"/>
            <a:ext cx="1325166" cy="165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Phase 4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845266" y="6468904"/>
            <a:ext cx="6132790" cy="130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Dashboard &amp; Reporting Enhancement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6893183" y="6843355"/>
            <a:ext cx="318016" cy="15240"/>
          </a:xfrm>
          <a:prstGeom prst="roundRect">
            <a:avLst>
              <a:gd name="adj" fmla="val 292165"/>
            </a:avLst>
          </a:prstGeom>
          <a:solidFill>
            <a:srgbClr val="C5D2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7195959" y="6731794"/>
            <a:ext cx="238482" cy="238482"/>
          </a:xfrm>
          <a:prstGeom prst="roundRect">
            <a:avLst>
              <a:gd name="adj" fmla="val 18671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7235666" y="6751618"/>
            <a:ext cx="158948" cy="198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5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5459968" y="6768227"/>
            <a:ext cx="1325166" cy="165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3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Phase 5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652343" y="6967776"/>
            <a:ext cx="6132790" cy="130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00"/>
              </a:lnSpc>
              <a:buNone/>
            </a:pPr>
            <a:r>
              <a:rPr lang="en-US" sz="8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Continuous Improvement &amp; Assurance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652343" y="7680007"/>
            <a:ext cx="13325713" cy="130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Board oversight strengthens accountability.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08660"/>
            <a:ext cx="4243030" cy="527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Summary &amp; Next Steps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93790" y="1522452"/>
            <a:ext cx="13042821" cy="31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Mining risk management must: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93790" y="1995726"/>
            <a:ext cx="3153132" cy="1528763"/>
          </a:xfrm>
          <a:prstGeom prst="roundRect">
            <a:avLst>
              <a:gd name="adj" fmla="val 463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70002" y="2171938"/>
            <a:ext cx="506016" cy="506016"/>
          </a:xfrm>
          <a:prstGeom prst="roundRect">
            <a:avLst>
              <a:gd name="adj" fmla="val 18068768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9186" y="2311003"/>
            <a:ext cx="227647" cy="2276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0002" y="2821305"/>
            <a:ext cx="2187297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Prioritize life protection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4090273" y="1995726"/>
            <a:ext cx="3153251" cy="1528763"/>
          </a:xfrm>
          <a:prstGeom prst="roundRect">
            <a:avLst>
              <a:gd name="adj" fmla="val 463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266486" y="2171938"/>
            <a:ext cx="506016" cy="506016"/>
          </a:xfrm>
          <a:prstGeom prst="roundRect">
            <a:avLst>
              <a:gd name="adj" fmla="val 18068768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05670" y="2311003"/>
            <a:ext cx="227647" cy="2276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266486" y="2821305"/>
            <a:ext cx="2800826" cy="526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Strengthen geotechnical monitoring</a:t>
            </a:r>
            <a:endParaRPr lang="en-US" sz="1650" dirty="0"/>
          </a:p>
        </p:txBody>
      </p:sp>
      <p:sp>
        <p:nvSpPr>
          <p:cNvPr id="12" name="Shape 8"/>
          <p:cNvSpPr/>
          <p:nvPr/>
        </p:nvSpPr>
        <p:spPr>
          <a:xfrm>
            <a:off x="7386876" y="1995726"/>
            <a:ext cx="3153132" cy="1528763"/>
          </a:xfrm>
          <a:prstGeom prst="roundRect">
            <a:avLst>
              <a:gd name="adj" fmla="val 463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7563088" y="2171938"/>
            <a:ext cx="506016" cy="506016"/>
          </a:xfrm>
          <a:prstGeom prst="roundRect">
            <a:avLst>
              <a:gd name="adj" fmla="val 18068768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02272" y="2311003"/>
            <a:ext cx="227647" cy="2276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563088" y="2821305"/>
            <a:ext cx="2727008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Improve equipment reliability</a:t>
            </a:r>
            <a:endParaRPr lang="en-US" sz="1650" dirty="0"/>
          </a:p>
        </p:txBody>
      </p:sp>
      <p:sp>
        <p:nvSpPr>
          <p:cNvPr id="16" name="Shape 11"/>
          <p:cNvSpPr/>
          <p:nvPr/>
        </p:nvSpPr>
        <p:spPr>
          <a:xfrm>
            <a:off x="10683359" y="1995726"/>
            <a:ext cx="3153251" cy="1528763"/>
          </a:xfrm>
          <a:prstGeom prst="roundRect">
            <a:avLst>
              <a:gd name="adj" fmla="val 463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10859572" y="2171938"/>
            <a:ext cx="506016" cy="506016"/>
          </a:xfrm>
          <a:prstGeom prst="roundRect">
            <a:avLst>
              <a:gd name="adj" fmla="val 18068768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998756" y="2311003"/>
            <a:ext cx="227647" cy="2276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859572" y="2821305"/>
            <a:ext cx="2800826" cy="526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Enhance environmental governance</a:t>
            </a:r>
            <a:endParaRPr lang="en-US" sz="1650" dirty="0"/>
          </a:p>
        </p:txBody>
      </p:sp>
      <p:sp>
        <p:nvSpPr>
          <p:cNvPr id="20" name="Shape 14"/>
          <p:cNvSpPr/>
          <p:nvPr/>
        </p:nvSpPr>
        <p:spPr>
          <a:xfrm>
            <a:off x="793790" y="3667839"/>
            <a:ext cx="13042821" cy="1265277"/>
          </a:xfrm>
          <a:prstGeom prst="roundRect">
            <a:avLst>
              <a:gd name="adj" fmla="val 5600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970002" y="3844052"/>
            <a:ext cx="506016" cy="506016"/>
          </a:xfrm>
          <a:prstGeom prst="roundRect">
            <a:avLst>
              <a:gd name="adj" fmla="val 18068768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09186" y="3983117"/>
            <a:ext cx="227647" cy="22764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70002" y="4493419"/>
            <a:ext cx="3818930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Maintain strong community relationships</a:t>
            </a:r>
            <a:endParaRPr lang="en-US" sz="1650" dirty="0"/>
          </a:p>
        </p:txBody>
      </p:sp>
      <p:sp>
        <p:nvSpPr>
          <p:cNvPr id="24" name="Text 17"/>
          <p:cNvSpPr/>
          <p:nvPr/>
        </p:nvSpPr>
        <p:spPr>
          <a:xfrm>
            <a:off x="793790" y="5148143"/>
            <a:ext cx="2530435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437066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Immediate Actions:</a:t>
            </a:r>
            <a:endParaRPr lang="en-US" sz="1950" dirty="0"/>
          </a:p>
        </p:txBody>
      </p:sp>
      <p:sp>
        <p:nvSpPr>
          <p:cNvPr id="25" name="Shape 18"/>
          <p:cNvSpPr/>
          <p:nvPr/>
        </p:nvSpPr>
        <p:spPr>
          <a:xfrm>
            <a:off x="793790" y="5679400"/>
            <a:ext cx="379571" cy="379571"/>
          </a:xfrm>
          <a:prstGeom prst="roundRect">
            <a:avLst>
              <a:gd name="adj" fmla="val 18667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9"/>
          <p:cNvSpPr/>
          <p:nvPr/>
        </p:nvSpPr>
        <p:spPr>
          <a:xfrm>
            <a:off x="857071" y="5711071"/>
            <a:ext cx="253008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1950" dirty="0"/>
          </a:p>
        </p:txBody>
      </p:sp>
      <p:sp>
        <p:nvSpPr>
          <p:cNvPr id="27" name="Text 20"/>
          <p:cNvSpPr/>
          <p:nvPr/>
        </p:nvSpPr>
        <p:spPr>
          <a:xfrm>
            <a:off x="1316712" y="5737384"/>
            <a:ext cx="2989778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Conduct tailings integrity review</a:t>
            </a:r>
            <a:endParaRPr lang="en-US" sz="1650" dirty="0"/>
          </a:p>
        </p:txBody>
      </p:sp>
      <p:sp>
        <p:nvSpPr>
          <p:cNvPr id="28" name="Shape 21"/>
          <p:cNvSpPr/>
          <p:nvPr/>
        </p:nvSpPr>
        <p:spPr>
          <a:xfrm>
            <a:off x="7404735" y="5679400"/>
            <a:ext cx="379571" cy="379571"/>
          </a:xfrm>
          <a:prstGeom prst="roundRect">
            <a:avLst>
              <a:gd name="adj" fmla="val 18667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2"/>
          <p:cNvSpPr/>
          <p:nvPr/>
        </p:nvSpPr>
        <p:spPr>
          <a:xfrm>
            <a:off x="7468017" y="5711071"/>
            <a:ext cx="253008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</a:t>
            </a:r>
            <a:endParaRPr lang="en-US" sz="1950" dirty="0"/>
          </a:p>
        </p:txBody>
      </p:sp>
      <p:sp>
        <p:nvSpPr>
          <p:cNvPr id="30" name="Text 23"/>
          <p:cNvSpPr/>
          <p:nvPr/>
        </p:nvSpPr>
        <p:spPr>
          <a:xfrm>
            <a:off x="7927658" y="5737384"/>
            <a:ext cx="3760113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Review underground ventilation systems</a:t>
            </a:r>
            <a:endParaRPr lang="en-US" sz="1650" dirty="0"/>
          </a:p>
        </p:txBody>
      </p:sp>
      <p:sp>
        <p:nvSpPr>
          <p:cNvPr id="31" name="Shape 24"/>
          <p:cNvSpPr/>
          <p:nvPr/>
        </p:nvSpPr>
        <p:spPr>
          <a:xfrm>
            <a:off x="793790" y="6345674"/>
            <a:ext cx="379571" cy="379571"/>
          </a:xfrm>
          <a:prstGeom prst="roundRect">
            <a:avLst>
              <a:gd name="adj" fmla="val 18667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5"/>
          <p:cNvSpPr/>
          <p:nvPr/>
        </p:nvSpPr>
        <p:spPr>
          <a:xfrm>
            <a:off x="857071" y="6377345"/>
            <a:ext cx="253008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</a:t>
            </a:r>
            <a:endParaRPr lang="en-US" sz="1950" dirty="0"/>
          </a:p>
        </p:txBody>
      </p:sp>
      <p:sp>
        <p:nvSpPr>
          <p:cNvPr id="33" name="Text 26"/>
          <p:cNvSpPr/>
          <p:nvPr/>
        </p:nvSpPr>
        <p:spPr>
          <a:xfrm>
            <a:off x="1316712" y="6403658"/>
            <a:ext cx="2943225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Strengthen contractor oversight</a:t>
            </a:r>
            <a:endParaRPr lang="en-US" sz="1650" dirty="0"/>
          </a:p>
        </p:txBody>
      </p:sp>
      <p:sp>
        <p:nvSpPr>
          <p:cNvPr id="34" name="Shape 27"/>
          <p:cNvSpPr/>
          <p:nvPr/>
        </p:nvSpPr>
        <p:spPr>
          <a:xfrm>
            <a:off x="7404735" y="6345674"/>
            <a:ext cx="379571" cy="379571"/>
          </a:xfrm>
          <a:prstGeom prst="roundRect">
            <a:avLst>
              <a:gd name="adj" fmla="val 18667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8"/>
          <p:cNvSpPr/>
          <p:nvPr/>
        </p:nvSpPr>
        <p:spPr>
          <a:xfrm>
            <a:off x="7468017" y="6377345"/>
            <a:ext cx="253008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4</a:t>
            </a:r>
            <a:endParaRPr lang="en-US" sz="1950" dirty="0"/>
          </a:p>
        </p:txBody>
      </p:sp>
      <p:sp>
        <p:nvSpPr>
          <p:cNvPr id="36" name="Text 29"/>
          <p:cNvSpPr/>
          <p:nvPr/>
        </p:nvSpPr>
        <p:spPr>
          <a:xfrm>
            <a:off x="7927658" y="6403658"/>
            <a:ext cx="3921681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Align risk reporting with board governance</a:t>
            </a:r>
            <a:endParaRPr lang="en-US" sz="1650" dirty="0"/>
          </a:p>
        </p:txBody>
      </p:sp>
      <p:sp>
        <p:nvSpPr>
          <p:cNvPr id="37" name="Text 30"/>
          <p:cNvSpPr/>
          <p:nvPr/>
        </p:nvSpPr>
        <p:spPr>
          <a:xfrm>
            <a:off x="1046798" y="7047667"/>
            <a:ext cx="12789813" cy="31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Mining risk governance protects people, assets, and license to operate.</a:t>
            </a:r>
            <a:endParaRPr lang="en-US" sz="1650" dirty="0"/>
          </a:p>
        </p:txBody>
      </p:sp>
      <p:sp>
        <p:nvSpPr>
          <p:cNvPr id="38" name="Shape 31"/>
          <p:cNvSpPr/>
          <p:nvPr/>
        </p:nvSpPr>
        <p:spPr>
          <a:xfrm>
            <a:off x="793790" y="6886456"/>
            <a:ext cx="22860" cy="634484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834283"/>
            <a:ext cx="1362194" cy="373142"/>
          </a:xfrm>
          <a:prstGeom prst="roundRect">
            <a:avLst>
              <a:gd name="adj" fmla="val 17872"/>
            </a:avLst>
          </a:prstGeom>
          <a:solidFill>
            <a:srgbClr val="DFEC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2852" y="2893814"/>
            <a:ext cx="1124069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LEGAL NOTICE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3286720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Property Notice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4204454"/>
            <a:ext cx="13042821" cy="1190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This presentation is the intellectual property of </a:t>
            </a:r>
            <a:r>
              <a:rPr lang="en-US" sz="19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Phumi Mhlongo</a:t>
            </a:r>
            <a:r>
              <a:rPr lang="en-US" sz="1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and </a:t>
            </a:r>
            <a:r>
              <a:rPr lang="en-US" sz="19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Nozipho Memela</a:t>
            </a:r>
            <a:r>
              <a:rPr lang="en-US" sz="1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. All rights reserved. Unauthorized reproduction, redistribution, or commercial use is strictly prohibited without prior written consent.</a:t>
            </a:r>
            <a:endParaRPr lang="en-US" sz="1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826663"/>
            <a:ext cx="1194197" cy="388382"/>
          </a:xfrm>
          <a:prstGeom prst="roundRect">
            <a:avLst>
              <a:gd name="adj" fmla="val 17171"/>
            </a:avLst>
          </a:prstGeom>
          <a:noFill/>
          <a:ln w="7620">
            <a:solidFill>
              <a:srgbClr val="4370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20472" y="2893814"/>
            <a:ext cx="940832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IMPORTANT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3294340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Disclaimer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4212074"/>
            <a:ext cx="13042821" cy="1190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This material is provided for educational and professional purposes only. Organizations must apply independent professional judgment when implementing mining risk management frameworks within their specific regulatory and operational context.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1302</Words>
  <Application>Microsoft Office PowerPoint</Application>
  <PresentationFormat>Custom</PresentationFormat>
  <Paragraphs>332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Kanit Light</vt:lpstr>
      <vt:lpstr>Arial</vt:lpstr>
      <vt:lpstr>Martel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Phumelela Mhlongo</cp:lastModifiedBy>
  <cp:revision>2</cp:revision>
  <dcterms:created xsi:type="dcterms:W3CDTF">2026-02-27T06:06:36Z</dcterms:created>
  <dcterms:modified xsi:type="dcterms:W3CDTF">2026-02-27T06:09:56Z</dcterms:modified>
</cp:coreProperties>
</file>