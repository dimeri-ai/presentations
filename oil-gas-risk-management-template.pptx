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4630400" cy="8229600"/>
  <p:notesSz cx="8229600" cy="14630400"/>
  <p:embeddedFontLst>
    <p:embeddedFont>
      <p:font typeface="Crimson Pro Semi Bold"/>
      <p:regular r:id="rId35"/>
    </p:embeddedFont>
    <p:embeddedFont>
      <p:font typeface="Crimson Pro Semi Bold"/>
      <p:regular r:id="rId36"/>
    </p:embeddedFont>
    <p:embeddedFont>
      <p:font typeface="Crimson Pro Semi Bold"/>
      <p:regular r:id="rId37"/>
    </p:embeddedFont>
    <p:embeddedFont>
      <p:font typeface="Crimson Pro Semi Bold"/>
      <p:regular r:id="rId38"/>
    </p:embeddedFont>
    <p:embeddedFont>
      <p:font typeface="Heebo"/>
      <p:regular r:id="rId39"/>
    </p:embeddedFont>
    <p:embeddedFont>
      <p:font typeface="Heebo"/>
      <p:regular r:id="rId4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Relationship Id="rId37" Type="http://schemas.openxmlformats.org/officeDocument/2006/relationships/font" Target="fonts/font3.fntdata"/><Relationship Id="rId38" Type="http://schemas.openxmlformats.org/officeDocument/2006/relationships/font" Target="fonts/font4.fntdata"/><Relationship Id="rId39" Type="http://schemas.openxmlformats.org/officeDocument/2006/relationships/font" Target="fonts/font5.fntdata"/><Relationship Id="rId4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slideLayout" Target="../slideLayouts/slideLayout18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slideLayout" Target="../slideLayouts/slideLayout2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7" Type="http://schemas.openxmlformats.org/officeDocument/2006/relationships/image" Target="../media/image-24-7.png"/><Relationship Id="rId8" Type="http://schemas.openxmlformats.org/officeDocument/2006/relationships/image" Target="../media/image-24-8.svg"/><Relationship Id="rId9" Type="http://schemas.openxmlformats.org/officeDocument/2006/relationships/slideLayout" Target="../slideLayouts/slideLayout25.xml"/><Relationship Id="rId10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603540"/>
            <a:ext cx="4877038" cy="373142"/>
          </a:xfrm>
          <a:prstGeom prst="roundRect">
            <a:avLst>
              <a:gd name="adj" fmla="val 6383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2663071"/>
            <a:ext cx="463891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INTEGRATED OPERATIONAL, HSE &amp; STRATEGIC RISK OVERSIGHT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3055977"/>
            <a:ext cx="573083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Oil &amp; Gas Risk Management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973711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Oil &amp; gas operations operate in high-hazard, capital-intensive environments where risk management directly affects safety, environmental protection, and enterprise value.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499086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Prepared by: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Phumi Mhlongo &amp; Nozipho Memela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Date: [Insert Date]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679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Overview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44625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Agenda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36398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2678311"/>
            <a:ext cx="6422231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2823210"/>
            <a:ext cx="252102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Industry Risk Landscape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414379" y="236398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379" y="2678311"/>
            <a:ext cx="6422231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7414379" y="2823210"/>
            <a:ext cx="272474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Value Chain Risk Exposure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93790" y="348055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3794879"/>
            <a:ext cx="6422231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2" name="Text 10"/>
          <p:cNvSpPr/>
          <p:nvPr/>
        </p:nvSpPr>
        <p:spPr>
          <a:xfrm>
            <a:off x="793790" y="393977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HSE &amp; Process Safety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414379" y="348055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414379" y="3794879"/>
            <a:ext cx="6422231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5" name="Text 13"/>
          <p:cNvSpPr/>
          <p:nvPr/>
        </p:nvSpPr>
        <p:spPr>
          <a:xfrm>
            <a:off x="7414379" y="393977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Risk Assessment Tools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93790" y="4597122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93790" y="4911447"/>
            <a:ext cx="6422231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056346"/>
            <a:ext cx="395097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Asset Integrity &amp; Contractor Oversight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414379" y="4597122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06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414379" y="4911447"/>
            <a:ext cx="6422231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1" name="Text 19"/>
          <p:cNvSpPr/>
          <p:nvPr/>
        </p:nvSpPr>
        <p:spPr>
          <a:xfrm>
            <a:off x="7414379" y="5056346"/>
            <a:ext cx="422755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Regulatory &amp; Environmental Governance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93790" y="571369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07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93790" y="6028015"/>
            <a:ext cx="6422231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4" name="Text 22"/>
          <p:cNvSpPr/>
          <p:nvPr/>
        </p:nvSpPr>
        <p:spPr>
          <a:xfrm>
            <a:off x="793790" y="617291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Energy Transition Risks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414379" y="571369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08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7414379" y="6028015"/>
            <a:ext cx="6422231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7" name="Text 25"/>
          <p:cNvSpPr/>
          <p:nvPr/>
        </p:nvSpPr>
        <p:spPr>
          <a:xfrm>
            <a:off x="7414379" y="6172914"/>
            <a:ext cx="31865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Implementation &amp; Governance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93790" y="685514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presentation integrates operational, safety, regulatory, and strategic risks across the petroleum lifecycle.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546854"/>
            <a:ext cx="2352437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Context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792361" y="912257"/>
            <a:ext cx="4781907" cy="58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Industry Risk Landscape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792361" y="1768078"/>
            <a:ext cx="13045678" cy="366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Oil &amp; gas is one of the highest risk industries globally due to: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792361" y="2335411"/>
            <a:ext cx="6433661" cy="1813679"/>
          </a:xfrm>
          <a:prstGeom prst="roundRect">
            <a:avLst>
              <a:gd name="adj" fmla="val 1557"/>
            </a:avLst>
          </a:prstGeom>
          <a:solidFill>
            <a:srgbClr val="F2EEEE"/>
          </a:solidFill>
          <a:ln/>
        </p:spPr>
      </p:sp>
      <p:sp>
        <p:nvSpPr>
          <p:cNvPr id="6" name="Shape 4"/>
          <p:cNvSpPr/>
          <p:nvPr/>
        </p:nvSpPr>
        <p:spPr>
          <a:xfrm>
            <a:off x="980480" y="2523530"/>
            <a:ext cx="564594" cy="564594"/>
          </a:xfrm>
          <a:prstGeom prst="roundRect">
            <a:avLst>
              <a:gd name="adj" fmla="val 16194089"/>
            </a:avLst>
          </a:prstGeom>
          <a:solidFill>
            <a:srgbClr val="2150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737" y="2678787"/>
            <a:ext cx="253960" cy="253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0480" y="3266480"/>
            <a:ext cx="2352437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High Energy Density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80480" y="3667601"/>
            <a:ext cx="605742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Flammable hydrocarbons under pressure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404378" y="2335411"/>
            <a:ext cx="6433661" cy="1813679"/>
          </a:xfrm>
          <a:prstGeom prst="roundRect">
            <a:avLst>
              <a:gd name="adj" fmla="val 1557"/>
            </a:avLst>
          </a:prstGeom>
          <a:solidFill>
            <a:srgbClr val="F2EEEE"/>
          </a:solidFill>
          <a:ln/>
        </p:spPr>
      </p:sp>
      <p:sp>
        <p:nvSpPr>
          <p:cNvPr id="11" name="Shape 8"/>
          <p:cNvSpPr/>
          <p:nvPr/>
        </p:nvSpPr>
        <p:spPr>
          <a:xfrm>
            <a:off x="7592497" y="2523530"/>
            <a:ext cx="564594" cy="564594"/>
          </a:xfrm>
          <a:prstGeom prst="roundRect">
            <a:avLst>
              <a:gd name="adj" fmla="val 16194089"/>
            </a:avLst>
          </a:prstGeom>
          <a:solidFill>
            <a:srgbClr val="2150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7754" y="2678787"/>
            <a:ext cx="253960" cy="2539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92497" y="3266480"/>
            <a:ext cx="2352437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Capital Intensity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7592497" y="3667601"/>
            <a:ext cx="605742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Multi-billion Rand capital investments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792361" y="4327446"/>
            <a:ext cx="6433661" cy="1813679"/>
          </a:xfrm>
          <a:prstGeom prst="roundRect">
            <a:avLst>
              <a:gd name="adj" fmla="val 1557"/>
            </a:avLst>
          </a:prstGeom>
          <a:solidFill>
            <a:srgbClr val="F2EEEE"/>
          </a:solidFill>
          <a:ln/>
        </p:spPr>
      </p:sp>
      <p:sp>
        <p:nvSpPr>
          <p:cNvPr id="16" name="Shape 12"/>
          <p:cNvSpPr/>
          <p:nvPr/>
        </p:nvSpPr>
        <p:spPr>
          <a:xfrm>
            <a:off x="980480" y="4515564"/>
            <a:ext cx="564594" cy="564594"/>
          </a:xfrm>
          <a:prstGeom prst="roundRect">
            <a:avLst>
              <a:gd name="adj" fmla="val 16194089"/>
            </a:avLst>
          </a:prstGeom>
          <a:solidFill>
            <a:srgbClr val="2150F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5737" y="4670822"/>
            <a:ext cx="253960" cy="2539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0480" y="5258514"/>
            <a:ext cx="2352437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Geopolitical Exposure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980480" y="5659636"/>
            <a:ext cx="605742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Global geopolitical exposure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7404378" y="4327446"/>
            <a:ext cx="6433661" cy="1813679"/>
          </a:xfrm>
          <a:prstGeom prst="roundRect">
            <a:avLst>
              <a:gd name="adj" fmla="val 1557"/>
            </a:avLst>
          </a:prstGeom>
          <a:solidFill>
            <a:srgbClr val="F2EEEE"/>
          </a:solidFill>
          <a:ln/>
        </p:spPr>
      </p:sp>
      <p:sp>
        <p:nvSpPr>
          <p:cNvPr id="21" name="Shape 16"/>
          <p:cNvSpPr/>
          <p:nvPr/>
        </p:nvSpPr>
        <p:spPr>
          <a:xfrm>
            <a:off x="7592497" y="4515564"/>
            <a:ext cx="564594" cy="564594"/>
          </a:xfrm>
          <a:prstGeom prst="roundRect">
            <a:avLst>
              <a:gd name="adj" fmla="val 16194089"/>
            </a:avLst>
          </a:prstGeom>
          <a:solidFill>
            <a:srgbClr val="2150F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7754" y="4670822"/>
            <a:ext cx="253960" cy="2539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92497" y="5258514"/>
            <a:ext cx="2352437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Social Sensitivity</a:t>
            </a:r>
            <a:endParaRPr lang="en-US" sz="1850" dirty="0"/>
          </a:p>
        </p:txBody>
      </p:sp>
      <p:sp>
        <p:nvSpPr>
          <p:cNvPr id="24" name="Text 18"/>
          <p:cNvSpPr/>
          <p:nvPr/>
        </p:nvSpPr>
        <p:spPr>
          <a:xfrm>
            <a:off x="7592497" y="5659636"/>
            <a:ext cx="605742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Environmental and social sensitivity</a:t>
            </a:r>
            <a:endParaRPr lang="en-US" sz="1450" dirty="0"/>
          </a:p>
        </p:txBody>
      </p:sp>
      <p:sp>
        <p:nvSpPr>
          <p:cNvPr id="25" name="Shape 19"/>
          <p:cNvSpPr/>
          <p:nvPr/>
        </p:nvSpPr>
        <p:spPr>
          <a:xfrm>
            <a:off x="792361" y="6341864"/>
            <a:ext cx="13045678" cy="773430"/>
          </a:xfrm>
          <a:prstGeom prst="roundRect">
            <a:avLst>
              <a:gd name="adj" fmla="val 3650"/>
            </a:avLst>
          </a:prstGeom>
          <a:solidFill>
            <a:srgbClr val="B3C3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480" y="6618089"/>
            <a:ext cx="235148" cy="1881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03747" y="6567249"/>
            <a:ext cx="12246173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Example: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 single offshore blowout can cause fatalities, environmental catastrophe, and long-term legal liabilities.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792361" y="7316033"/>
            <a:ext cx="13045678" cy="366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 management in this sector is not optional — it is </a:t>
            </a:r>
            <a:pPr algn="l" indent="0" marL="0">
              <a:lnSpc>
                <a:spcPts val="2850"/>
              </a:lnSpc>
              <a:buNone/>
            </a:pPr>
            <a:r>
              <a:rPr lang="en-US" sz="18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existential</a:t>
            </a:r>
            <a:pPr algn="l" indent="0" marL="0">
              <a:lnSpc>
                <a:spcPts val="2850"/>
              </a:lnSpc>
              <a:buNone/>
            </a:pPr>
            <a:r>
              <a:rPr lang="en-US" sz="18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54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Structure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32492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Value Chain Overview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242661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oil &amp; gas value chain includes:</a:t>
            </a:r>
            <a:endParaRPr lang="en-US" sz="1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62858"/>
            <a:ext cx="4347567" cy="7937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385500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Upstream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2148" y="4284226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Exploration &amp; Production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2862858"/>
            <a:ext cx="4347567" cy="7937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39715" y="385500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Midstream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5339715" y="4284226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Transport &amp; Storage</a:t>
            </a:r>
            <a:endParaRPr lang="en-US" sz="1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2862858"/>
            <a:ext cx="4347567" cy="79379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87282" y="385500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Downstream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9687282" y="4284226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Refining &amp; Distribution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793790" y="502336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segment introduces different risk types: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793790" y="5564148"/>
            <a:ext cx="4215289" cy="1189196"/>
          </a:xfrm>
          <a:prstGeom prst="roundRect">
            <a:avLst>
              <a:gd name="adj" fmla="val 922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70930" y="5564148"/>
            <a:ext cx="91440" cy="1189196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17" name="Text 12"/>
          <p:cNvSpPr/>
          <p:nvPr/>
        </p:nvSpPr>
        <p:spPr>
          <a:xfrm>
            <a:off x="1083588" y="578536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Upstream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1083588" y="6214586"/>
            <a:ext cx="37042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Well control risk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5207437" y="5564148"/>
            <a:ext cx="4215408" cy="1189196"/>
          </a:xfrm>
          <a:prstGeom prst="roundRect">
            <a:avLst>
              <a:gd name="adj" fmla="val 922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184577" y="5564148"/>
            <a:ext cx="91440" cy="1189196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21" name="Text 16"/>
          <p:cNvSpPr/>
          <p:nvPr/>
        </p:nvSpPr>
        <p:spPr>
          <a:xfrm>
            <a:off x="5497235" y="578536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Midstream</a:t>
            </a:r>
            <a:endParaRPr lang="en-US" sz="1950" dirty="0"/>
          </a:p>
        </p:txBody>
      </p:sp>
      <p:sp>
        <p:nvSpPr>
          <p:cNvPr id="22" name="Text 17"/>
          <p:cNvSpPr/>
          <p:nvPr/>
        </p:nvSpPr>
        <p:spPr>
          <a:xfrm>
            <a:off x="5497235" y="6214586"/>
            <a:ext cx="37043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Pipeline rupture risk</a:t>
            </a:r>
            <a:endParaRPr lang="en-US" sz="1550" dirty="0"/>
          </a:p>
        </p:txBody>
      </p:sp>
      <p:sp>
        <p:nvSpPr>
          <p:cNvPr id="23" name="Shape 18"/>
          <p:cNvSpPr/>
          <p:nvPr/>
        </p:nvSpPr>
        <p:spPr>
          <a:xfrm>
            <a:off x="9621203" y="5564148"/>
            <a:ext cx="4215289" cy="1189196"/>
          </a:xfrm>
          <a:prstGeom prst="roundRect">
            <a:avLst>
              <a:gd name="adj" fmla="val 922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598343" y="5564148"/>
            <a:ext cx="91440" cy="1189196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25" name="Text 20"/>
          <p:cNvSpPr/>
          <p:nvPr/>
        </p:nvSpPr>
        <p:spPr>
          <a:xfrm>
            <a:off x="9911001" y="578536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Downstream</a:t>
            </a:r>
            <a:endParaRPr lang="en-US" sz="1950" dirty="0"/>
          </a:p>
        </p:txBody>
      </p:sp>
      <p:sp>
        <p:nvSpPr>
          <p:cNvPr id="26" name="Text 21"/>
          <p:cNvSpPr/>
          <p:nvPr/>
        </p:nvSpPr>
        <p:spPr>
          <a:xfrm>
            <a:off x="9911001" y="6214586"/>
            <a:ext cx="37042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Process safety and explosion risk</a:t>
            </a:r>
            <a:endParaRPr lang="en-US" sz="1550" dirty="0"/>
          </a:p>
        </p:txBody>
      </p:sp>
      <p:sp>
        <p:nvSpPr>
          <p:cNvPr id="27" name="Text 22"/>
          <p:cNvSpPr/>
          <p:nvPr/>
        </p:nvSpPr>
        <p:spPr>
          <a:xfrm>
            <a:off x="793790" y="697658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Enterprise risk management must integrate risk across all segments.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813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Upstream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687592"/>
            <a:ext cx="572928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Upstream Exploration Risks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605326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Upstream risk begins with geological uncertainty.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22552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hazards include: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766304"/>
            <a:ext cx="13042821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Well blowouts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– uncontrolled release of hydrocarbons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Reservoir pressure miscalculations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Drilling mud failure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Well integrity loss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3790" y="5467945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B3C3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5755600"/>
            <a:ext cx="248007" cy="1983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8513" y="5715833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Blowout preventers (BOPs) are mechanical barriers designed to prevent catastrophic pressure release during drilling.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93790" y="6534388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Upstream risk is characterized by </a:t>
            </a:r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impact, low frequency</a:t>
            </a:r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events.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19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Upstream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52138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Offshore Operations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439114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Offshore platforms operate in extreme environments.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05931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 drivers include:</a:t>
            </a:r>
            <a:endParaRPr lang="en-US" sz="1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600093"/>
            <a:ext cx="496133" cy="4961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7930" y="36000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Harsh Weather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537930" y="4029313"/>
            <a:ext cx="565320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Harsh weather and marine conditions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144" y="3600093"/>
            <a:ext cx="496133" cy="4961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83285" y="36000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Transport Risk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8183285" y="4029313"/>
            <a:ext cx="5653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Helicopter transport risk</a:t>
            </a:r>
            <a:endParaRPr lang="en-US" sz="15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743688"/>
            <a:ext cx="496133" cy="4961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7930" y="474368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Structural Fatigue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1537930" y="5172908"/>
            <a:ext cx="565320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Structural fatigue of platform infrastructure</a:t>
            </a:r>
            <a:endParaRPr lang="en-US" sz="15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9144" y="4743688"/>
            <a:ext cx="496133" cy="49613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83285" y="474368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Subsea Failure</a:t>
            </a:r>
            <a:endParaRPr lang="en-US" sz="1950" dirty="0"/>
          </a:p>
        </p:txBody>
      </p:sp>
      <p:sp>
        <p:nvSpPr>
          <p:cNvPr id="17" name="Text 11"/>
          <p:cNvSpPr/>
          <p:nvPr/>
        </p:nvSpPr>
        <p:spPr>
          <a:xfrm>
            <a:off x="8183285" y="5172908"/>
            <a:ext cx="5653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Subsea equipment failure</a:t>
            </a:r>
            <a:endParaRPr lang="en-US" sz="1550" dirty="0"/>
          </a:p>
        </p:txBody>
      </p:sp>
      <p:sp>
        <p:nvSpPr>
          <p:cNvPr id="18" name="Shape 12"/>
          <p:cNvSpPr/>
          <p:nvPr/>
        </p:nvSpPr>
        <p:spPr>
          <a:xfrm>
            <a:off x="793790" y="5713690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B3C3F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48" y="6001345"/>
            <a:ext cx="248007" cy="19835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38513" y="5961578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Dynamic positioning systems prevent drilling vessels from drifting, reducing collision risk.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793790" y="678013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Evacuation complexity increases risk severity offshore.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479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Midstream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574244"/>
            <a:ext cx="549294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Midstream Transportation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491978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Midstream infrastructure includes pipelines, storage tanks, and export terminals.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11217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risks: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652957"/>
            <a:ext cx="4215289" cy="1784509"/>
          </a:xfrm>
          <a:prstGeom prst="roundRect">
            <a:avLst>
              <a:gd name="adj" fmla="val 166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6650" y="3675817"/>
            <a:ext cx="4169569" cy="595313"/>
          </a:xfrm>
          <a:prstGeom prst="roundRect">
            <a:avLst>
              <a:gd name="adj" fmla="val 393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2752606" y="378737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15008" y="44694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Corrosion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15008" y="4898708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Corrosion leading to pipeline rupture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207437" y="3652957"/>
            <a:ext cx="4215408" cy="1784509"/>
          </a:xfrm>
          <a:prstGeom prst="roundRect">
            <a:avLst>
              <a:gd name="adj" fmla="val 166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30297" y="3675817"/>
            <a:ext cx="4169688" cy="595313"/>
          </a:xfrm>
          <a:prstGeom prst="roundRect">
            <a:avLst>
              <a:gd name="adj" fmla="val 393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166253" y="378737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28655" y="4469487"/>
            <a:ext cx="25215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Third-Party Interference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428655" y="4898708"/>
            <a:ext cx="37729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Illegal tapping or sabotage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9621203" y="3652957"/>
            <a:ext cx="4215289" cy="1784509"/>
          </a:xfrm>
          <a:prstGeom prst="roundRect">
            <a:avLst>
              <a:gd name="adj" fmla="val 166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44063" y="3675817"/>
            <a:ext cx="4169569" cy="595313"/>
          </a:xfrm>
          <a:prstGeom prst="roundRect">
            <a:avLst>
              <a:gd name="adj" fmla="val 393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11580019" y="378737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842421" y="44694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Overpressure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842421" y="4898708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Overpressure incidents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93790" y="5660708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B3C3FF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5948363"/>
            <a:ext cx="248007" cy="19835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38513" y="5908596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Smart pigging tools are used inside pipelines to detect corrosion and cracks before failure.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793790" y="672715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Pipeline failure can result in environmental contamination and criminal liability.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612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Downstream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77557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Downstream Refining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693313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Refineries operate complex chemical processes at high temperature and pressure.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31350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Major risks: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854291"/>
            <a:ext cx="4215289" cy="1461016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992148" y="40526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Vapor Cloud Explosion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2148" y="4481870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Catastrophic ignition of released hydrocarbons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207437" y="3854291"/>
            <a:ext cx="4215408" cy="1461016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5405795" y="40526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H₂S Exposure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05795" y="4481870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Hydrogen sulfide (H₂S) exposure — toxic and potentially fatal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3854291"/>
            <a:ext cx="4215289" cy="1461016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9819561" y="40526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Runaway Reaction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819561" y="4481870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Process deviation leading to runaway reaction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91446" y="5761792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Definition: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Process safety refers to preventing catastrophic releases of hazardous energy or substances.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5538549"/>
            <a:ext cx="22860" cy="764024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652581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Refineries require strict operational discipline.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3416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Safety Framework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793790" y="1029653"/>
            <a:ext cx="6754297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Process Safety Management (PSM)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793790" y="1887379"/>
            <a:ext cx="13042821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Process Safety Management is a systematic framework designed to prevent major accident events.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93790" y="2456498"/>
            <a:ext cx="1304282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Core elements include: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952155"/>
            <a:ext cx="471368" cy="471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3647361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Hazard Identification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93790" y="4049435"/>
            <a:ext cx="6409492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HAZOP, HAZID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7119" y="2952155"/>
            <a:ext cx="471368" cy="471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27119" y="3647361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Mechanical Integrity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7427119" y="4049435"/>
            <a:ext cx="6409492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Mechanical integrity programs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701778"/>
            <a:ext cx="471368" cy="4713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5396984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Management of Change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793790" y="5799058"/>
            <a:ext cx="6409492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MOC processes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7119" y="4701778"/>
            <a:ext cx="471368" cy="4713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27119" y="5396984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Emergency Planning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7427119" y="5799058"/>
            <a:ext cx="6409492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Emergency response preparedness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793790" y="6294715"/>
            <a:ext cx="13042821" cy="775692"/>
          </a:xfrm>
          <a:prstGeom prst="roundRect">
            <a:avLst>
              <a:gd name="adj" fmla="val 3646"/>
            </a:avLst>
          </a:prstGeom>
          <a:solidFill>
            <a:srgbClr val="B3C3F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266" y="6570940"/>
            <a:ext cx="235625" cy="18847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06366" y="6520815"/>
            <a:ext cx="12241768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Example: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Before modifying equipment, a formal MOC review must assess unintended consequences.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793790" y="7271861"/>
            <a:ext cx="1304282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Process safety protects against catastrophic failure — not just minor injuries.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0215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Governance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93790" y="1005126"/>
            <a:ext cx="3225165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HSE Framework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93790" y="1534001"/>
            <a:ext cx="13042821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Integrated Health, Safety &amp; Environmental Governance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93790" y="1841063"/>
            <a:ext cx="13042821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HSE in oil &amp; gas is a structured governance system that integrates occupational health, process safety, and environmental protection into core operational decision-making.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93790" y="2189440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1. Health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3790" y="2515076"/>
            <a:ext cx="4093369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Focuses on long-term exposure risks such as: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3790" y="2760702"/>
            <a:ext cx="4093369" cy="768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Benzene and chemical exposure</a:t>
            </a:r>
            <a:endParaRPr lang="en-US" sz="10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Noise-induced hearing loss</a:t>
            </a:r>
            <a:endParaRPr lang="en-US" sz="10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Silica dust and respiratory risks</a:t>
            </a:r>
            <a:endParaRPr lang="en-US" sz="10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Heat stress in desert or offshore environments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3790" y="3604974"/>
            <a:ext cx="4093369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Health risk management includes exposure monitoring, industrial hygiene programs, and medical surveillance.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09342" y="2189440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2. Safety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09342" y="2515076"/>
            <a:ext cx="4093369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Divided into: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09342" y="2760702"/>
            <a:ext cx="4093369" cy="36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Personal safety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(slips, trips, falls, LTI)</a:t>
            </a:r>
            <a:endParaRPr lang="en-US" sz="10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Process safety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(major accident prevention)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09342" y="3205877"/>
            <a:ext cx="4093369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Safety governance includes: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09342" y="3451503"/>
            <a:ext cx="4093369" cy="768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Permit-to-work systems</a:t>
            </a:r>
            <a:endParaRPr lang="en-US" sz="10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Lockout/Tagout (LOTO)</a:t>
            </a:r>
            <a:endParaRPr lang="en-US" sz="10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Job Safety Analysis (JSA)</a:t>
            </a:r>
            <a:endParaRPr lang="en-US" sz="10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Behavioral safety programs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24893" y="2189440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3. Environmental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24893" y="2515076"/>
            <a:ext cx="4226838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Includes: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24893" y="2760702"/>
            <a:ext cx="4226838" cy="768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Spill prevention and containment</a:t>
            </a:r>
            <a:endParaRPr lang="en-US" sz="10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Emissions reduction</a:t>
            </a:r>
            <a:endParaRPr lang="en-US" sz="10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Waste management</a:t>
            </a:r>
            <a:endParaRPr lang="en-US" sz="10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Biodiversity protection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3790" y="4408394"/>
            <a:ext cx="13042821" cy="23693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93790" y="4557713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Governance Structure</a:t>
            </a:r>
            <a:endParaRPr lang="en-US" sz="15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4925258"/>
            <a:ext cx="6521410" cy="51601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22734" y="5525095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Board HSE Oversight</a:t>
            </a:r>
            <a:endParaRPr lang="en-US" sz="12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925258"/>
            <a:ext cx="6521410" cy="516017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444145" y="5525095"/>
            <a:ext cx="1733074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Executive HSE Committee</a:t>
            </a:r>
            <a:endParaRPr lang="en-US" sz="12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855494"/>
            <a:ext cx="6521410" cy="51601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22734" y="6455331"/>
            <a:ext cx="1743789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Site-Level HSE Leadership</a:t>
            </a:r>
            <a:endParaRPr lang="en-US" sz="12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855494"/>
            <a:ext cx="6521410" cy="51601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44145" y="6455331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Defined HSE KPIs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444145" y="6707029"/>
            <a:ext cx="6263521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Leading and lagging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987266" y="7194828"/>
            <a:ext cx="12849344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Definition: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 mature HSE system moves beyond compliance to proactive risk anticipation.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93790" y="7100530"/>
            <a:ext cx="15240" cy="358854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906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Environmental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448514"/>
            <a:ext cx="565951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Environmental Compliance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366248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Environmental risks include: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93790" y="2986445"/>
            <a:ext cx="6422231" cy="1189196"/>
          </a:xfrm>
          <a:prstGeom prst="roundRect">
            <a:avLst>
              <a:gd name="adj" fmla="val 922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0930" y="2986445"/>
            <a:ext cx="91440" cy="1189196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7" name="Text 5"/>
          <p:cNvSpPr/>
          <p:nvPr/>
        </p:nvSpPr>
        <p:spPr>
          <a:xfrm>
            <a:off x="1083588" y="32076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Oil Spills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83588" y="3636883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Uncontrolled release of hydrocarbons into water or soil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2986445"/>
            <a:ext cx="6422231" cy="1189196"/>
          </a:xfrm>
          <a:prstGeom prst="roundRect">
            <a:avLst>
              <a:gd name="adj" fmla="val 922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1519" y="2986445"/>
            <a:ext cx="91440" cy="1189196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11" name="Text 9"/>
          <p:cNvSpPr/>
          <p:nvPr/>
        </p:nvSpPr>
        <p:spPr>
          <a:xfrm>
            <a:off x="7704177" y="32076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Methane Leakage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704177" y="3636883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Fugitive emissions from equipment and infrastructure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4373999"/>
            <a:ext cx="6422231" cy="1189196"/>
          </a:xfrm>
          <a:prstGeom prst="roundRect">
            <a:avLst>
              <a:gd name="adj" fmla="val 922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0930" y="4373999"/>
            <a:ext cx="91440" cy="1189196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15" name="Text 13"/>
          <p:cNvSpPr/>
          <p:nvPr/>
        </p:nvSpPr>
        <p:spPr>
          <a:xfrm>
            <a:off x="1083588" y="4595217"/>
            <a:ext cx="300347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Groundwater Contamination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83588" y="5024438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Subsurface pollution from drilling or storage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414379" y="4373999"/>
            <a:ext cx="6422231" cy="1189196"/>
          </a:xfrm>
          <a:prstGeom prst="roundRect">
            <a:avLst>
              <a:gd name="adj" fmla="val 922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91519" y="4373999"/>
            <a:ext cx="91440" cy="1189196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19" name="Text 17"/>
          <p:cNvSpPr/>
          <p:nvPr/>
        </p:nvSpPr>
        <p:spPr>
          <a:xfrm>
            <a:off x="7704177" y="45952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Excessive Flaring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704177" y="5024438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Burning of excess gas contributing to emissions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93790" y="5786438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B3C3FF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6074093"/>
            <a:ext cx="248007" cy="19835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38513" y="6034326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Secondary containment systems prevent spills from spreading beyond tank storage areas.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793790" y="685288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Environmental non-compliance can result in regulatory shutdown and civil litigation.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97932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Assessment Tools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793790" y="875109"/>
            <a:ext cx="3721298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Risk Assessment Matrix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3790" y="1507688"/>
            <a:ext cx="13042821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 high-hazard industries, risk scoring must reflect catastrophic potential.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6633" y="1893689"/>
            <a:ext cx="5213509" cy="2047875"/>
          </a:xfrm>
          <a:prstGeom prst="roundRect">
            <a:avLst>
              <a:gd name="adj" fmla="val 1090"/>
            </a:avLst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835462" y="2005251"/>
            <a:ext cx="2522696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Likelihood Scale (Example)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35462" y="2395776"/>
            <a:ext cx="4915853" cy="1198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Rare (once in 20+ years)</a:t>
            </a:r>
            <a:endParaRPr lang="en-US" sz="1150" dirty="0"/>
          </a:p>
          <a:p>
            <a:pPr algn="l" marL="342900" indent="-342900">
              <a:lnSpc>
                <a:spcPts val="16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Unlikely</a:t>
            </a:r>
            <a:endParaRPr lang="en-US" sz="1150" dirty="0"/>
          </a:p>
          <a:p>
            <a:pPr algn="l" marL="342900" indent="-342900">
              <a:lnSpc>
                <a:spcPts val="16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Possible</a:t>
            </a:r>
            <a:endParaRPr lang="en-US" sz="1150" dirty="0"/>
          </a:p>
          <a:p>
            <a:pPr algn="l" marL="342900" indent="-342900">
              <a:lnSpc>
                <a:spcPts val="1600"/>
              </a:lnSpc>
              <a:buSzPct val="100000"/>
              <a:buFont typeface="+mj-lt"/>
              <a:buAutoNum type="arabicPeriod" startAt="4"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Likely</a:t>
            </a:r>
            <a:endParaRPr lang="en-US" sz="1150" dirty="0"/>
          </a:p>
          <a:p>
            <a:pPr algn="l" marL="342900" indent="-342900">
              <a:lnSpc>
                <a:spcPts val="1600"/>
              </a:lnSpc>
              <a:buSzPct val="100000"/>
              <a:buFont typeface="+mj-lt"/>
              <a:buAutoNum type="arabicPeriod" startAt="5"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Frequent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63747" y="2005251"/>
            <a:ext cx="2377678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Consequence Dimensions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163747" y="2395776"/>
            <a:ext cx="7680365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Impact must be assessed across multiple categories: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63747" y="2704505"/>
            <a:ext cx="7680365" cy="1198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Safety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(fatality vs minor injury)</a:t>
            </a:r>
            <a:endParaRPr lang="en-US" sz="115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Environmental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(localized spill vs regional disaster)</a:t>
            </a:r>
            <a:endParaRPr lang="en-US" sz="115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(operational loss vs multi-billion Rand impact)</a:t>
            </a:r>
            <a:endParaRPr lang="en-US" sz="115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Legal/Regulatory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(warning vs license revocation)</a:t>
            </a:r>
            <a:endParaRPr lang="en-US" sz="115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Reputation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(local incident vs global media crisis)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3790" y="4141417"/>
            <a:ext cx="13042821" cy="26194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93790" y="4334947"/>
            <a:ext cx="4418886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High-Consequence Low-Frequency (HCLF) Risk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4781312"/>
            <a:ext cx="1304282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Oil &amp; gas risks often fall into this category: </a:t>
            </a:r>
            <a:pPr algn="l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Low probability but catastrophic outcome.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3790" y="5115163"/>
            <a:ext cx="13042821" cy="531852"/>
          </a:xfrm>
          <a:prstGeom prst="roundRect">
            <a:avLst>
              <a:gd name="adj" fmla="val 4198"/>
            </a:avLst>
          </a:prstGeom>
          <a:solidFill>
            <a:srgbClr val="B3C3FF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618" y="5315664"/>
            <a:ext cx="185976" cy="14882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77422" y="5263872"/>
            <a:ext cx="1241036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Deepwater Horizon – low probability drilling failure, extreme financial and reputational damage.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93790" y="5814417"/>
            <a:ext cx="2450902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Risk Treatment Alignment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793790" y="6260783"/>
            <a:ext cx="1304282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 scores must trigger: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93790" y="6594634"/>
            <a:ext cx="13042821" cy="703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Escalation protocols</a:t>
            </a:r>
            <a:endParaRPr lang="en-US" sz="115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Board visibility thresholds</a:t>
            </a:r>
            <a:endParaRPr lang="en-US" sz="115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Mandatory independent assurance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93790" y="7423309"/>
            <a:ext cx="1304282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 matrices must avoid normalization of high residual risks.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113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Assessment Tools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860590"/>
            <a:ext cx="624197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Hazard Identification (HAZID)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778323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HAZID is an early-stage structured workshop used to identify potential hazards.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39852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 involves: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939302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1438632" y="4007525"/>
            <a:ext cx="321040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Multidisciplinary Team Review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38632" y="4436745"/>
            <a:ext cx="353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Cross-functional experts collaborate to identify risks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223986" y="3939302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5868829" y="40075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Scenario Brainstorming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868829" y="4436745"/>
            <a:ext cx="353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Systematic exploration of potential hazard scenarios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54302" y="3939302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10299144" y="4007525"/>
            <a:ext cx="276010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Documentation of Hazards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99144" y="4436745"/>
            <a:ext cx="353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Formal recording and categorization of identified hazards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5295067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B3C3FF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5582722"/>
            <a:ext cx="248007" cy="19835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38513" y="5542955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Identifying potential gas release scenarios during facility design stage.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93790" y="6361509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Early hazard identification reduces lifecycle risk.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3069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Assessment Tools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93790" y="998934"/>
            <a:ext cx="3473291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HAZOP Studies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93790" y="1578888"/>
            <a:ext cx="13042821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Hazard &amp; Operability Study (HAZOP)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93790" y="1924407"/>
            <a:ext cx="13042821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HAZOP is a structured and highly disciplined review method used to examine process systems for deviations from design intent.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93790" y="225921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Core Methodology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3790" y="2665452"/>
            <a:ext cx="4282797" cy="416719"/>
          </a:xfrm>
          <a:prstGeom prst="roundRect">
            <a:avLst>
              <a:gd name="adj" fmla="val 480090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2830949" y="2743557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17" y="3179326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Select Process Node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32617" y="3454717"/>
            <a:ext cx="4005143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e.g., distillation column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73742" y="2665452"/>
            <a:ext cx="4282797" cy="416719"/>
          </a:xfrm>
          <a:prstGeom prst="roundRect">
            <a:avLst>
              <a:gd name="adj" fmla="val 480090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7210901" y="2743557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12569" y="3179326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Apply Guidewords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12569" y="3454717"/>
            <a:ext cx="4005143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flow, More pressure, Less temperature, Reverse flow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553694" y="2665452"/>
            <a:ext cx="4282797" cy="416719"/>
          </a:xfrm>
          <a:prstGeom prst="roundRect">
            <a:avLst>
              <a:gd name="adj" fmla="val 480090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11590853" y="2743557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92521" y="3179326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Identify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92521" y="3454717"/>
            <a:ext cx="4005143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Causes, Consequences, Existing safeguards, Recommendations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3790" y="3928348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Example Scenario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3790" y="4334589"/>
            <a:ext cx="13042821" cy="1619607"/>
          </a:xfrm>
          <a:prstGeom prst="roundRect">
            <a:avLst>
              <a:gd name="adj" fmla="val 128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1410" y="4342209"/>
            <a:ext cx="13027581" cy="3208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40356" y="4408170"/>
            <a:ext cx="2975372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Deviation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01001" y="4408170"/>
            <a:ext cx="9489162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"More pressure"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1410" y="4663083"/>
            <a:ext cx="13027581" cy="3208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40356" y="4729043"/>
            <a:ext cx="2975372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Cause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01001" y="4729043"/>
            <a:ext cx="9489162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Blocked outlet valve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1410" y="4983956"/>
            <a:ext cx="13027581" cy="3208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40356" y="5049917"/>
            <a:ext cx="2975372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Consequence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01001" y="5049917"/>
            <a:ext cx="9489162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Vessel rupture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1410" y="5304830"/>
            <a:ext cx="13027581" cy="3208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40356" y="5370790"/>
            <a:ext cx="2975372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Safeguard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01001" y="5370790"/>
            <a:ext cx="9489162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Pressure relief valve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1410" y="5625703"/>
            <a:ext cx="13027581" cy="3208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40356" y="5691664"/>
            <a:ext cx="2975372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201001" y="5691664"/>
            <a:ext cx="9489162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Install redundant relief valve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93790" y="6100048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Governance Importance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3790" y="6506289"/>
            <a:ext cx="13042821" cy="63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Mandatory before commissioning</a:t>
            </a:r>
            <a:endParaRPr lang="en-US" sz="10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Required after significant modification (MOC trigger)</a:t>
            </a:r>
            <a:endParaRPr lang="en-US" sz="10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Often reviewed by independent facilitators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93790" y="7250311"/>
            <a:ext cx="13042821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HAZOP is one of the most critical defenses against refinery explosions.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728" y="338018"/>
            <a:ext cx="998934" cy="124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Assessment Tools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91728" y="475655"/>
            <a:ext cx="1997988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Bow-Tie Analysis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491728" y="773549"/>
            <a:ext cx="13646944" cy="112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Barrier-Based Risk Visualization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91728" y="921782"/>
            <a:ext cx="13646944" cy="8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Bow-Tie analysis visually connects threats to consequences through barrier mapping.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491728" y="1047512"/>
            <a:ext cx="13646944" cy="8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Structure: </a:t>
            </a:r>
            <a:pPr algn="l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Threats → Top Event → Consequences</a:t>
            </a:r>
            <a:endParaRPr lang="en-US" sz="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309" y="1173242"/>
            <a:ext cx="6255782" cy="48265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1681" y="3190682"/>
            <a:ext cx="1091049" cy="748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Bow-Tie Risk Overview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834990" y="4811039"/>
            <a:ext cx="1623129" cy="498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Top Event: Loss of control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834990" y="5380957"/>
            <a:ext cx="1623129" cy="139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Critical incident point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446530" y="3144390"/>
            <a:ext cx="1658610" cy="498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Consequence: Injury or harm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446530" y="3714308"/>
            <a:ext cx="1658610" cy="27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Emergency mitigation actions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129544" y="4616308"/>
            <a:ext cx="1623129" cy="74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Consequence: Environmental release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129544" y="5435703"/>
            <a:ext cx="1623129" cy="27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Mitigative response measures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509133" y="3135520"/>
            <a:ext cx="1658610" cy="498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Threat: Human error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509133" y="3705438"/>
            <a:ext cx="1658610" cy="27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Procedures and training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42350" y="1472336"/>
            <a:ext cx="1667481" cy="498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Threat: Equipment failure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442350" y="2042254"/>
            <a:ext cx="1667481" cy="27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Preventive barriers in place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91728" y="6068139"/>
            <a:ext cx="1198721" cy="149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Preventive Barriers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91728" y="6250067"/>
            <a:ext cx="6726079" cy="8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Stop the top event from occurring.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491728" y="6368534"/>
            <a:ext cx="6726079" cy="8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Example: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91728" y="6487001"/>
            <a:ext cx="6726079" cy="290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700"/>
              </a:lnSpc>
              <a:buSzPct val="100000"/>
              <a:buChar char="•"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Blowout preventer (BOP)</a:t>
            </a:r>
            <a:endParaRPr lang="en-US" sz="600" dirty="0"/>
          </a:p>
          <a:p>
            <a:pPr algn="l" marL="342900" indent="-342900">
              <a:lnSpc>
                <a:spcPts val="700"/>
              </a:lnSpc>
              <a:buSzPct val="100000"/>
              <a:buChar char="•"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Well design standards</a:t>
            </a:r>
            <a:endParaRPr lang="en-US" sz="600" dirty="0"/>
          </a:p>
          <a:p>
            <a:pPr algn="l" marL="342900" indent="-342900">
              <a:lnSpc>
                <a:spcPts val="700"/>
              </a:lnSpc>
              <a:buSzPct val="100000"/>
              <a:buChar char="•"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Operator training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7420213" y="6068139"/>
            <a:ext cx="1198721" cy="149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Mitigative Barriers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420213" y="6250067"/>
            <a:ext cx="6726079" cy="8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 impact after occurrence.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420213" y="6368534"/>
            <a:ext cx="6726079" cy="8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Example: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7420213" y="6487001"/>
            <a:ext cx="6726079" cy="290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700"/>
              </a:lnSpc>
              <a:buSzPct val="100000"/>
              <a:buChar char="•"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Emergency shutdown systems</a:t>
            </a:r>
            <a:endParaRPr lang="en-US" sz="600" dirty="0"/>
          </a:p>
          <a:p>
            <a:pPr algn="l" marL="342900" indent="-342900">
              <a:lnSpc>
                <a:spcPts val="700"/>
              </a:lnSpc>
              <a:buSzPct val="100000"/>
              <a:buChar char="•"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Fire suppression</a:t>
            </a:r>
            <a:endParaRPr lang="en-US" sz="600" dirty="0"/>
          </a:p>
          <a:p>
            <a:pPr algn="l" marL="342900" indent="-342900">
              <a:lnSpc>
                <a:spcPts val="700"/>
              </a:lnSpc>
              <a:buSzPct val="100000"/>
              <a:buChar char="•"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Evacuation plans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491728" y="6865240"/>
            <a:ext cx="13646944" cy="17502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491728" y="6930866"/>
            <a:ext cx="1454825" cy="149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Critical Control Management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91728" y="7128867"/>
            <a:ext cx="13646944" cy="8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 major accident hazards: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491728" y="7254597"/>
            <a:ext cx="13646944" cy="391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700"/>
              </a:lnSpc>
              <a:buSzPct val="100000"/>
              <a:buChar char="•"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Identify critical barriers</a:t>
            </a:r>
            <a:endParaRPr lang="en-US" sz="600" dirty="0"/>
          </a:p>
          <a:p>
            <a:pPr algn="l" marL="342900" indent="-342900">
              <a:lnSpc>
                <a:spcPts val="700"/>
              </a:lnSpc>
              <a:buSzPct val="100000"/>
              <a:buChar char="•"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Define performance standards</a:t>
            </a:r>
            <a:endParaRPr lang="en-US" sz="600" dirty="0"/>
          </a:p>
          <a:p>
            <a:pPr algn="l" marL="342900" indent="-342900">
              <a:lnSpc>
                <a:spcPts val="700"/>
              </a:lnSpc>
              <a:buSzPct val="100000"/>
              <a:buChar char="•"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Verify barrier effectiveness</a:t>
            </a:r>
            <a:endParaRPr lang="en-US" sz="600" dirty="0"/>
          </a:p>
          <a:p>
            <a:pPr algn="l" marL="342900" indent="-342900">
              <a:lnSpc>
                <a:spcPts val="700"/>
              </a:lnSpc>
              <a:buSzPct val="100000"/>
              <a:buChar char="•"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Conduct periodic audits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611505" y="7718703"/>
            <a:ext cx="13527167" cy="8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Definition:</a:t>
            </a:r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 critical control is one that, if it fails, significantly increases the likelihood or severity of a major accident.</a:t>
            </a:r>
            <a:endParaRPr lang="en-US" sz="600" dirty="0"/>
          </a:p>
        </p:txBody>
      </p:sp>
      <p:sp>
        <p:nvSpPr>
          <p:cNvPr id="32" name="Shape 29"/>
          <p:cNvSpPr/>
          <p:nvPr/>
        </p:nvSpPr>
        <p:spPr>
          <a:xfrm>
            <a:off x="491728" y="7682508"/>
            <a:ext cx="7620" cy="161925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3" name="Text 30"/>
          <p:cNvSpPr/>
          <p:nvPr/>
        </p:nvSpPr>
        <p:spPr>
          <a:xfrm>
            <a:off x="491728" y="7880628"/>
            <a:ext cx="13646944" cy="8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Bow-Tie improves transparency for board oversight.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64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Major Hazards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2375892"/>
            <a:ext cx="547104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Major Accident Prevention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3293626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Major Accident Events (MAEs) are low-frequency but catastrophic events.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91382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Examples: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4454604"/>
            <a:ext cx="4215289" cy="706874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992148" y="46529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Offshore Explosion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207437" y="4454604"/>
            <a:ext cx="4215408" cy="706874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5405795" y="46529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Refinery Fire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621203" y="4454604"/>
            <a:ext cx="4215289" cy="706874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819561" y="46529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Toxic Gas Release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93790" y="538472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Critical control verification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ensures that key safeguards remain functional.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3790" y="592550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Independent assurance strengthens reliability.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6745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Preparedness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793790" y="992981"/>
            <a:ext cx="4713684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Emergency Response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793790" y="1850708"/>
            <a:ext cx="13042821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Emergency response planning ensures rapid containment of incidents.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93790" y="2419826"/>
            <a:ext cx="1304282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Includes: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915483"/>
            <a:ext cx="471368" cy="471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3610689"/>
            <a:ext cx="2865001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Incident Command Structure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93790" y="4012763"/>
            <a:ext cx="6409492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Clear chain of command during emergencies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7119" y="2915483"/>
            <a:ext cx="471368" cy="471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27119" y="3610689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Spill Response Teams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7427119" y="4012763"/>
            <a:ext cx="6409492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Dedicated teams for containment and cleanup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665107"/>
            <a:ext cx="471368" cy="4713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5360313"/>
            <a:ext cx="2456617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Fire Suppression Systems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793790" y="5762387"/>
            <a:ext cx="6409492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and manual fire control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7119" y="4665107"/>
            <a:ext cx="471368" cy="4713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27119" y="5360313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Evacuation Protocols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7427119" y="5762387"/>
            <a:ext cx="6409492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Structured evacuation procedures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793790" y="6258044"/>
            <a:ext cx="13042821" cy="775692"/>
          </a:xfrm>
          <a:prstGeom prst="roundRect">
            <a:avLst>
              <a:gd name="adj" fmla="val 3646"/>
            </a:avLst>
          </a:prstGeom>
          <a:solidFill>
            <a:srgbClr val="B3C3F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266" y="6534269"/>
            <a:ext cx="235625" cy="18847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06366" y="6484144"/>
            <a:ext cx="12241768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Example: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Annual emergency simulation drills test readiness.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793790" y="7235190"/>
            <a:ext cx="13042821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Preparedness reduces consequence severity.</a:t>
            </a:r>
            <a:endParaRPr lang="en-US" sz="1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61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Oversight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2265640"/>
            <a:ext cx="643187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Contractor Safety Management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3183374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Contractors often represent a large portion of workforce exposure.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400192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Risks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4572357"/>
            <a:ext cx="6279356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Lower safety maturity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Inconsistent training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Interface gaps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21999" y="3803571"/>
            <a:ext cx="6565106" cy="1929646"/>
          </a:xfrm>
          <a:prstGeom prst="roundRect">
            <a:avLst>
              <a:gd name="adj" fmla="val 1543"/>
            </a:avLst>
          </a:prstGeom>
          <a:solidFill>
            <a:srgbClr val="2150FE"/>
          </a:solidFill>
          <a:ln/>
        </p:spPr>
      </p:sp>
      <p:sp>
        <p:nvSpPr>
          <p:cNvPr id="8" name="Text 6"/>
          <p:cNvSpPr/>
          <p:nvPr/>
        </p:nvSpPr>
        <p:spPr>
          <a:xfrm>
            <a:off x="7620357" y="400192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Controls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620357" y="4572357"/>
            <a:ext cx="6168390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Prequalification audits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Contractor safety KPIs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Mandatory induction programs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3790" y="5956459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Contractor risk is enterprise risk.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70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Asset Management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466493"/>
            <a:ext cx="582084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Asset Integrity Management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384227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Asset integrity ensures equipment performs safely throughout lifecycle.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00442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Includes: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842861"/>
            <a:ext cx="4215289" cy="1781651"/>
          </a:xfrm>
          <a:prstGeom prst="roundRect">
            <a:avLst>
              <a:gd name="adj" fmla="val 6159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3820001"/>
            <a:ext cx="4215289" cy="91440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8" name="Shape 6"/>
          <p:cNvSpPr/>
          <p:nvPr/>
        </p:nvSpPr>
        <p:spPr>
          <a:xfrm>
            <a:off x="2603778" y="354520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2782372" y="369403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015008" y="433899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Corrosion Monitoring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15008" y="4768215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Continuous assessment of material degradation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207437" y="3842861"/>
            <a:ext cx="4215408" cy="1781651"/>
          </a:xfrm>
          <a:prstGeom prst="roundRect">
            <a:avLst>
              <a:gd name="adj" fmla="val 615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207437" y="3820001"/>
            <a:ext cx="4215408" cy="91440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14" name="Shape 12"/>
          <p:cNvSpPr/>
          <p:nvPr/>
        </p:nvSpPr>
        <p:spPr>
          <a:xfrm>
            <a:off x="7017425" y="354520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150FE"/>
          </a:solidFill>
          <a:ln/>
        </p:spPr>
      </p:sp>
      <p:sp>
        <p:nvSpPr>
          <p:cNvPr id="15" name="Text 13"/>
          <p:cNvSpPr/>
          <p:nvPr/>
        </p:nvSpPr>
        <p:spPr>
          <a:xfrm>
            <a:off x="7196018" y="369403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5428655" y="4338995"/>
            <a:ext cx="268866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Pressure Vessel Inspection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5428655" y="4768215"/>
            <a:ext cx="37729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Scheduled inspection of critical containment equipment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9621203" y="3842861"/>
            <a:ext cx="4215289" cy="1781651"/>
          </a:xfrm>
          <a:prstGeom prst="roundRect">
            <a:avLst>
              <a:gd name="adj" fmla="val 6159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621203" y="3820001"/>
            <a:ext cx="4215289" cy="91440"/>
          </a:xfrm>
          <a:prstGeom prst="roundRect">
            <a:avLst>
              <a:gd name="adj" fmla="val 32558"/>
            </a:avLst>
          </a:prstGeom>
          <a:solidFill>
            <a:srgbClr val="2150FE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1191" y="354520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150FE"/>
          </a:solidFill>
          <a:ln/>
        </p:spPr>
      </p:sp>
      <p:sp>
        <p:nvSpPr>
          <p:cNvPr id="21" name="Text 19"/>
          <p:cNvSpPr/>
          <p:nvPr/>
        </p:nvSpPr>
        <p:spPr>
          <a:xfrm>
            <a:off x="11609784" y="369403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9842421" y="433899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Predictive Maintenance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842421" y="4768215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Data-driven maintenance scheduling to prevent failure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91446" y="6070997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Definition: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Mechanical integrity refers to maintaining equipment to prevent failure.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93790" y="5847755"/>
            <a:ext cx="22860" cy="764024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6" name="Text 24"/>
          <p:cNvSpPr/>
          <p:nvPr/>
        </p:nvSpPr>
        <p:spPr>
          <a:xfrm>
            <a:off x="793790" y="683502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Integrity failure often precedes major accident events.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184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Compliance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78129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Regulatory Framework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699028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Oil &amp; gas operations are regulated by: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93790" y="3319224"/>
            <a:ext cx="6422231" cy="706874"/>
          </a:xfrm>
          <a:prstGeom prst="roundRect">
            <a:avLst>
              <a:gd name="adj" fmla="val 67387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992148" y="3517583"/>
            <a:ext cx="264390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Occupational Safety Laws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414379" y="3319224"/>
            <a:ext cx="6422231" cy="706874"/>
          </a:xfrm>
          <a:prstGeom prst="roundRect">
            <a:avLst>
              <a:gd name="adj" fmla="val 6738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7612737" y="35175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Environmental Permits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93790" y="4224457"/>
            <a:ext cx="6422231" cy="706874"/>
          </a:xfrm>
          <a:prstGeom prst="roundRect">
            <a:avLst>
              <a:gd name="adj" fmla="val 6738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992148" y="4422815"/>
            <a:ext cx="265187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Offshore Safety Standards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414379" y="4224457"/>
            <a:ext cx="6422231" cy="706874"/>
          </a:xfrm>
          <a:prstGeom prst="roundRect">
            <a:avLst>
              <a:gd name="adj" fmla="val 67387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7612737" y="4422815"/>
            <a:ext cx="339447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Emissions Reporting Regulations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93790" y="515457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Non-compliance consequences include:</a:t>
            </a:r>
            <a:endParaRPr lang="en-US" sz="15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204" y="5701427"/>
            <a:ext cx="297656" cy="29765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38632" y="569535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Operational Shutdown</a:t>
            </a:r>
            <a:endParaRPr lang="en-US" sz="1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8400" y="5701427"/>
            <a:ext cx="297656" cy="2976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868829" y="569535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Penalties</a:t>
            </a:r>
            <a:endParaRPr lang="en-US" sz="1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28716" y="5701427"/>
            <a:ext cx="297656" cy="2976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99144" y="569535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Criminal Prosecution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793790" y="652010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Compliance governance must be systematic.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03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Documentation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549837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Risk Register Template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467570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Core risk documentation should include: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93790" y="3087767"/>
            <a:ext cx="13042821" cy="3440668"/>
          </a:xfrm>
          <a:prstGeom prst="roundRect">
            <a:avLst>
              <a:gd name="adj" fmla="val 86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3095387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99887" y="3222069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 Description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911923" y="3222069"/>
            <a:ext cx="87187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Cause–Event–Impact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1410" y="3666292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99887" y="3792974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Inherent Score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911923" y="3792974"/>
            <a:ext cx="87187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 level before controls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1410" y="4237196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99887" y="4363879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Existing Controls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911923" y="4363879"/>
            <a:ext cx="87187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Current mitigation measures in place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01410" y="4808101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99887" y="4934783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Residual Score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911923" y="4934783"/>
            <a:ext cx="87187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 level after controls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01410" y="5379006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99887" y="5505688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 Owner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911923" y="5505688"/>
            <a:ext cx="87187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Accountable individual or function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1410" y="5949910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99887" y="6076593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Mitigation Plan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911923" y="6076593"/>
            <a:ext cx="87187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Actions to further reduce risk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93790" y="675167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Standardized registers enable consistent reporting across assets.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31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Metrics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772603"/>
            <a:ext cx="520505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Leading Safety Indicators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690336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Leading indicators predict risk exposure before incidents occur.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31053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Examples: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0930" y="3851315"/>
            <a:ext cx="4227909" cy="4572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4095393"/>
            <a:ext cx="325921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Near-Miss Reporting Frequency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93790" y="4524613"/>
            <a:ext cx="41821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Volume of near-miss events reported by workforce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201126" y="3851315"/>
            <a:ext cx="4228028" cy="4572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0" name="Text 8"/>
          <p:cNvSpPr/>
          <p:nvPr/>
        </p:nvSpPr>
        <p:spPr>
          <a:xfrm>
            <a:off x="5223986" y="4095393"/>
            <a:ext cx="254817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Safety Observation Rates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223986" y="4524613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Proactive safety observations conducted in the field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31442" y="3851315"/>
            <a:ext cx="4228028" cy="4572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9654302" y="4095393"/>
            <a:ext cx="39493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Critical Barrier Inspection Completion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54302" y="4524613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Percentage of scheduled barrier verifications completed on time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5382935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B3C3FF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5670590"/>
            <a:ext cx="248007" cy="19835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38513" y="5630823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Lagging indicators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(e.g., lost time injuries) measure outcomes after harm occurs.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93790" y="6449378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Proactive metrics reduce catastrophic risk.</a:t>
            </a:r>
            <a:endParaRPr lang="en-US" sz="1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2127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Learning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93790" y="1057037"/>
            <a:ext cx="3225165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Incident Investigation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93790" y="1585912"/>
            <a:ext cx="13042821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Root Cause &amp; System Learning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93790" y="1892975"/>
            <a:ext cx="13042821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Incident investigation must move beyond blame to systemic analysis.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93790" y="2188964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Principles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3790" y="2556510"/>
            <a:ext cx="13042821" cy="569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Focus on system failure, not individual error</a:t>
            </a:r>
            <a:endParaRPr lang="en-US" sz="10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Identify latent organizational weaknesses</a:t>
            </a:r>
            <a:endParaRPr lang="en-US" sz="10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Strengthen barriers, not punish symptoms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3790" y="3251597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Investigation Tools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3790" y="3619143"/>
            <a:ext cx="4291727" cy="1052155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030" y="3634383"/>
            <a:ext cx="4261247" cy="386953"/>
          </a:xfrm>
          <a:prstGeom prst="roundRect">
            <a:avLst>
              <a:gd name="adj" fmla="val 275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2842855" y="3706892"/>
            <a:ext cx="19347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7974" y="4105156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 Whys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7974" y="4356854"/>
            <a:ext cx="4003358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Repeatedly ask "why" until root cause is found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69337" y="3619143"/>
            <a:ext cx="4291727" cy="1052155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84577" y="3634383"/>
            <a:ext cx="4261247" cy="386953"/>
          </a:xfrm>
          <a:prstGeom prst="roundRect">
            <a:avLst>
              <a:gd name="adj" fmla="val 275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218402" y="3706892"/>
            <a:ext cx="19347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13521" y="4105156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Fishbone Diagram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13521" y="4356854"/>
            <a:ext cx="4003358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Categorize causes (people, process, equipment, environment)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544883" y="3619143"/>
            <a:ext cx="4291727" cy="1052155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60123" y="3634383"/>
            <a:ext cx="4261247" cy="386953"/>
          </a:xfrm>
          <a:prstGeom prst="roundRect">
            <a:avLst>
              <a:gd name="adj" fmla="val 275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11593949" y="3706892"/>
            <a:ext cx="19347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89068" y="4105156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Human Factors Analysis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89068" y="4356854"/>
            <a:ext cx="4003358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Identify fatigue, training gaps, communication breakdown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3790" y="4797028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Example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93790" y="5164574"/>
            <a:ext cx="13042821" cy="873204"/>
          </a:xfrm>
          <a:prstGeom prst="roundRect">
            <a:avLst>
              <a:gd name="adj" fmla="val 221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410" y="5172194"/>
            <a:ext cx="13027581" cy="2859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30473" y="5230058"/>
            <a:ext cx="3646527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Incident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2510" y="5230058"/>
            <a:ext cx="8857536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Gas release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1410" y="5458182"/>
            <a:ext cx="13027581" cy="28598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30473" y="5516047"/>
            <a:ext cx="3646527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Immediate cause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2510" y="5516047"/>
            <a:ext cx="8857536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Valve left open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1410" y="5744170"/>
            <a:ext cx="13027581" cy="2859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30473" y="5802035"/>
            <a:ext cx="3646527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2510" y="5802035"/>
            <a:ext cx="8857536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Inadequate shift handover procedure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3790" y="6163508"/>
            <a:ext cx="2033945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Governance Requirement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93790" y="6531054"/>
            <a:ext cx="13042821" cy="569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Board-level review of major accident investigations</a:t>
            </a:r>
            <a:endParaRPr lang="en-US" sz="10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Mandatory corrective action tracking</a:t>
            </a:r>
            <a:endParaRPr lang="en-US" sz="10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Lessons learned shared across assets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93790" y="7194709"/>
            <a:ext cx="13042821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learning culture reduces repeat events.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0806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Strategic Risk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793790" y="1097042"/>
            <a:ext cx="4713684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Energy Transition Risks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793790" y="1954768"/>
            <a:ext cx="13042821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global energy transition introduces structural risk.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93790" y="2523887"/>
            <a:ext cx="1304282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Examples: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93790" y="3019544"/>
            <a:ext cx="6431875" cy="1416248"/>
          </a:xfrm>
          <a:prstGeom prst="roundRect">
            <a:avLst>
              <a:gd name="adj" fmla="val 1997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982266" y="3208020"/>
            <a:ext cx="565547" cy="565547"/>
          </a:xfrm>
          <a:prstGeom prst="roundRect">
            <a:avLst>
              <a:gd name="adj" fmla="val 16166801"/>
            </a:avLst>
          </a:prstGeom>
          <a:solidFill>
            <a:srgbClr val="2150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61" y="3363516"/>
            <a:ext cx="254437" cy="2544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2266" y="3952637"/>
            <a:ext cx="2416373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Carbon Pricing Exposure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7404735" y="3019544"/>
            <a:ext cx="6431875" cy="1416248"/>
          </a:xfrm>
          <a:prstGeom prst="roundRect">
            <a:avLst>
              <a:gd name="adj" fmla="val 1997"/>
            </a:avLst>
          </a:prstGeom>
          <a:solidFill>
            <a:srgbClr val="F2EEEE"/>
          </a:solidFill>
          <a:ln/>
        </p:spPr>
      </p:sp>
      <p:sp>
        <p:nvSpPr>
          <p:cNvPr id="11" name="Shape 8"/>
          <p:cNvSpPr/>
          <p:nvPr/>
        </p:nvSpPr>
        <p:spPr>
          <a:xfrm>
            <a:off x="7593211" y="3208020"/>
            <a:ext cx="565547" cy="565547"/>
          </a:xfrm>
          <a:prstGeom prst="roundRect">
            <a:avLst>
              <a:gd name="adj" fmla="val 16166801"/>
            </a:avLst>
          </a:prstGeom>
          <a:solidFill>
            <a:srgbClr val="2150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8707" y="3363516"/>
            <a:ext cx="254437" cy="2544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93211" y="3952637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Stranded Fossil Assets</a:t>
            </a:r>
            <a:endParaRPr lang="en-US" sz="1850" dirty="0"/>
          </a:p>
        </p:txBody>
      </p:sp>
      <p:sp>
        <p:nvSpPr>
          <p:cNvPr id="14" name="Shape 10"/>
          <p:cNvSpPr/>
          <p:nvPr/>
        </p:nvSpPr>
        <p:spPr>
          <a:xfrm>
            <a:off x="793790" y="4614863"/>
            <a:ext cx="6431875" cy="1416248"/>
          </a:xfrm>
          <a:prstGeom prst="roundRect">
            <a:avLst>
              <a:gd name="adj" fmla="val 1997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82266" y="4803338"/>
            <a:ext cx="565547" cy="565547"/>
          </a:xfrm>
          <a:prstGeom prst="roundRect">
            <a:avLst>
              <a:gd name="adj" fmla="val 16166801"/>
            </a:avLst>
          </a:prstGeom>
          <a:solidFill>
            <a:srgbClr val="2150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7761" y="4958834"/>
            <a:ext cx="254437" cy="25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2266" y="5547955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Renewable Substitution</a:t>
            </a:r>
            <a:endParaRPr lang="en-US" sz="1850" dirty="0"/>
          </a:p>
        </p:txBody>
      </p:sp>
      <p:sp>
        <p:nvSpPr>
          <p:cNvPr id="18" name="Shape 13"/>
          <p:cNvSpPr/>
          <p:nvPr/>
        </p:nvSpPr>
        <p:spPr>
          <a:xfrm>
            <a:off x="7404735" y="4614863"/>
            <a:ext cx="6431875" cy="1416248"/>
          </a:xfrm>
          <a:prstGeom prst="roundRect">
            <a:avLst>
              <a:gd name="adj" fmla="val 1997"/>
            </a:avLst>
          </a:prstGeom>
          <a:solidFill>
            <a:srgbClr val="F2EEEE"/>
          </a:solidFill>
          <a:ln/>
        </p:spPr>
      </p:sp>
      <p:sp>
        <p:nvSpPr>
          <p:cNvPr id="19" name="Shape 14"/>
          <p:cNvSpPr/>
          <p:nvPr/>
        </p:nvSpPr>
        <p:spPr>
          <a:xfrm>
            <a:off x="7593211" y="4803338"/>
            <a:ext cx="565547" cy="565547"/>
          </a:xfrm>
          <a:prstGeom prst="roundRect">
            <a:avLst>
              <a:gd name="adj" fmla="val 16166801"/>
            </a:avLst>
          </a:prstGeom>
          <a:solidFill>
            <a:srgbClr val="2150F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8707" y="4958834"/>
            <a:ext cx="254437" cy="25443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93211" y="5547955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Investor ESG Pressure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1076563" y="6434018"/>
            <a:ext cx="12760047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Definition: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Transition risk refers to financial or operational risk arising from decarbonization shifts.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793790" y="6232565"/>
            <a:ext cx="22860" cy="697111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4" name="Text 18"/>
          <p:cNvSpPr/>
          <p:nvPr/>
        </p:nvSpPr>
        <p:spPr>
          <a:xfrm>
            <a:off x="793790" y="7131129"/>
            <a:ext cx="13042821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Strategic repositioning becomes essential.</a:t>
            </a:r>
            <a:endParaRPr lang="en-US" sz="1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119" y="568643"/>
            <a:ext cx="1548051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119" y="792956"/>
            <a:ext cx="3385899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Implementation 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119" y="1295757"/>
            <a:ext cx="13106162" cy="200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Strengthening Oil &amp; Gas Risk Governance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119" y="1583650"/>
            <a:ext cx="13106162" cy="160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Effective implementation requires structured transformation.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62119" y="1831419"/>
            <a:ext cx="13106162" cy="1054537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359" y="1846659"/>
            <a:ext cx="495300" cy="1024057"/>
          </a:xfrm>
          <a:prstGeom prst="roundRect">
            <a:avLst>
              <a:gd name="adj" fmla="val 5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932140" y="2242542"/>
            <a:ext cx="185738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49931" y="1970484"/>
            <a:ext cx="1626870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 1 – Gap Assessment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9931" y="2210276"/>
            <a:ext cx="12379285" cy="536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Compare current HSE &amp; ERM systems to best practice</a:t>
            </a:r>
            <a:endParaRPr lang="en-US" sz="9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Identify major accident exposure gaps</a:t>
            </a:r>
            <a:endParaRPr lang="en-US" sz="9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Assess regulatory compliance maturity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2119" y="2963228"/>
            <a:ext cx="13106162" cy="1054537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359" y="2978468"/>
            <a:ext cx="495300" cy="1024057"/>
          </a:xfrm>
          <a:prstGeom prst="roundRect">
            <a:avLst>
              <a:gd name="adj" fmla="val 5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932140" y="3374350"/>
            <a:ext cx="185738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49931" y="3102293"/>
            <a:ext cx="2468880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 2 – Process Safety Strengthening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9931" y="3342084"/>
            <a:ext cx="12379285" cy="536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Formalize critical control management</a:t>
            </a:r>
            <a:endParaRPr lang="en-US" sz="9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Upgrade mechanical integrity programs</a:t>
            </a:r>
            <a:endParaRPr lang="en-US" sz="9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Strengthen management of change (MOC)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2119" y="4095036"/>
            <a:ext cx="13106162" cy="1054537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359" y="4110276"/>
            <a:ext cx="495300" cy="1024057"/>
          </a:xfrm>
          <a:prstGeom prst="roundRect">
            <a:avLst>
              <a:gd name="adj" fmla="val 58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932140" y="4506158"/>
            <a:ext cx="185738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349931" y="4234101"/>
            <a:ext cx="1648658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 3 – Risk Integration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49931" y="4473893"/>
            <a:ext cx="12379285" cy="536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Align site-level risk registers with enterprise reporting</a:t>
            </a:r>
            <a:endParaRPr lang="en-US" sz="9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Define board-level risk appetite</a:t>
            </a:r>
            <a:endParaRPr lang="en-US" sz="9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Standardize scoring methodology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2119" y="5226844"/>
            <a:ext cx="13106162" cy="1054537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359" y="5242084"/>
            <a:ext cx="495300" cy="1024057"/>
          </a:xfrm>
          <a:prstGeom prst="roundRect">
            <a:avLst>
              <a:gd name="adj" fmla="val 58"/>
            </a:avLst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932140" y="5637967"/>
            <a:ext cx="185738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349931" y="5365909"/>
            <a:ext cx="2178487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 4 – Technology Enablement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49931" y="5605701"/>
            <a:ext cx="12379285" cy="536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monitoring dashboards</a:t>
            </a:r>
            <a:endParaRPr lang="en-US" sz="9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Asset integrity predictive analytics</a:t>
            </a:r>
            <a:endParaRPr lang="en-US" sz="9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Integrated incident tracking systems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2119" y="6358652"/>
            <a:ext cx="13106162" cy="1054537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359" y="6373892"/>
            <a:ext cx="495300" cy="1024057"/>
          </a:xfrm>
          <a:prstGeom prst="roundRect">
            <a:avLst>
              <a:gd name="adj" fmla="val 58"/>
            </a:avLst>
          </a:prstGeom>
          <a:solidFill>
            <a:srgbClr val="F2EEEE"/>
          </a:solidFill>
          <a:ln/>
        </p:spPr>
      </p:sp>
      <p:sp>
        <p:nvSpPr>
          <p:cNvPr id="28" name="Text 26"/>
          <p:cNvSpPr/>
          <p:nvPr/>
        </p:nvSpPr>
        <p:spPr>
          <a:xfrm>
            <a:off x="932140" y="6769775"/>
            <a:ext cx="185738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349931" y="6497717"/>
            <a:ext cx="1926074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 5 – Assurance &amp; Culture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49931" y="6737509"/>
            <a:ext cx="12379285" cy="536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Independent audits</a:t>
            </a:r>
            <a:endParaRPr lang="en-US" sz="9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Safety leadership training</a:t>
            </a:r>
            <a:endParaRPr lang="en-US" sz="9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Continuous improvement cycles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2119" y="7500104"/>
            <a:ext cx="13106162" cy="160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Executive sponsorship is critical to avoid risk fatigue.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7602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793790" y="1094780"/>
            <a:ext cx="3721298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Summary &amp; Next Steps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3790" y="1727359"/>
            <a:ext cx="13042821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Strategic Insights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93790" y="2113359"/>
            <a:ext cx="1304282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Oil &amp; Gas risk exposure is multi-layered: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8550" y="2431971"/>
            <a:ext cx="30480" cy="538282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7" name="Text 5"/>
          <p:cNvSpPr/>
          <p:nvPr/>
        </p:nvSpPr>
        <p:spPr>
          <a:xfrm>
            <a:off x="973098" y="2447211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Operational Risk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73098" y="2746653"/>
            <a:ext cx="407527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Blowouts, fires, leaks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172670" y="2431971"/>
            <a:ext cx="30480" cy="538282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0" name="Text 8"/>
          <p:cNvSpPr/>
          <p:nvPr/>
        </p:nvSpPr>
        <p:spPr>
          <a:xfrm>
            <a:off x="5367218" y="2447211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Environmental Risk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367218" y="2746653"/>
            <a:ext cx="407527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Spills, emissions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566791" y="2431971"/>
            <a:ext cx="30480" cy="538282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9761339" y="2447211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Regulatory Risk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761339" y="2746653"/>
            <a:ext cx="407527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Non-compliance penalties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8550" y="3163014"/>
            <a:ext cx="30480" cy="538282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6" name="Text 14"/>
          <p:cNvSpPr/>
          <p:nvPr/>
        </p:nvSpPr>
        <p:spPr>
          <a:xfrm>
            <a:off x="973098" y="3178254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Risk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73098" y="3477697"/>
            <a:ext cx="6272332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Price volatility, asset impairment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69731" y="3163014"/>
            <a:ext cx="30480" cy="538282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9" name="Text 17"/>
          <p:cNvSpPr/>
          <p:nvPr/>
        </p:nvSpPr>
        <p:spPr>
          <a:xfrm>
            <a:off x="7564279" y="3178254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Transition Risk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64279" y="3477697"/>
            <a:ext cx="6272332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Decarbonization pressures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93790" y="3885909"/>
            <a:ext cx="13042821" cy="26194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93790" y="4079438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Strategic Imperatives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93790" y="4525804"/>
            <a:ext cx="13042821" cy="1198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Prioritize major accident prevention</a:t>
            </a:r>
            <a:endParaRPr lang="en-US" sz="1150" dirty="0"/>
          </a:p>
          <a:p>
            <a:pPr algn="l" marL="342900" indent="-342900">
              <a:lnSpc>
                <a:spcPts val="16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Strengthen asset integrity governance</a:t>
            </a:r>
            <a:endParaRPr lang="en-US" sz="1150" dirty="0"/>
          </a:p>
          <a:p>
            <a:pPr algn="l" marL="342900" indent="-342900">
              <a:lnSpc>
                <a:spcPts val="16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Embed contractor risk oversight</a:t>
            </a:r>
            <a:endParaRPr lang="en-US" sz="1150" dirty="0"/>
          </a:p>
          <a:p>
            <a:pPr algn="l" marL="342900" indent="-342900">
              <a:lnSpc>
                <a:spcPts val="1600"/>
              </a:lnSpc>
              <a:buSzPct val="100000"/>
              <a:buFont typeface="+mj-lt"/>
              <a:buAutoNum type="arabicPeriod" startAt="4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Integrate environmental and ESG metrics</a:t>
            </a:r>
            <a:endParaRPr lang="en-US" sz="1150" dirty="0"/>
          </a:p>
          <a:p>
            <a:pPr algn="l" marL="342900" indent="-342900">
              <a:lnSpc>
                <a:spcPts val="1600"/>
              </a:lnSpc>
              <a:buSzPct val="100000"/>
              <a:buFont typeface="+mj-lt"/>
              <a:buAutoNum type="arabicPeriod" startAt="5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Align risk management with long-term energy transition strategy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93790" y="589121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Immediate Actions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793790" y="6416576"/>
            <a:ext cx="74414" cy="74414"/>
          </a:xfrm>
          <a:prstGeom prst="roundRect">
            <a:avLst>
              <a:gd name="adj" fmla="val 614401"/>
            </a:avLst>
          </a:prstGeom>
          <a:solidFill>
            <a:srgbClr val="2150FE"/>
          </a:solidFill>
          <a:ln/>
        </p:spPr>
      </p:sp>
      <p:sp>
        <p:nvSpPr>
          <p:cNvPr id="26" name="Text 24"/>
          <p:cNvSpPr/>
          <p:nvPr/>
        </p:nvSpPr>
        <p:spPr>
          <a:xfrm>
            <a:off x="979765" y="6337578"/>
            <a:ext cx="3012519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Conduct Major Accident Hazard review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384971" y="6416576"/>
            <a:ext cx="74414" cy="74414"/>
          </a:xfrm>
          <a:prstGeom prst="roundRect">
            <a:avLst>
              <a:gd name="adj" fmla="val 614401"/>
            </a:avLst>
          </a:prstGeom>
          <a:solidFill>
            <a:srgbClr val="2150FE"/>
          </a:solidFill>
          <a:ln/>
        </p:spPr>
      </p:sp>
      <p:sp>
        <p:nvSpPr>
          <p:cNvPr id="28" name="Text 26"/>
          <p:cNvSpPr/>
          <p:nvPr/>
        </p:nvSpPr>
        <p:spPr>
          <a:xfrm>
            <a:off x="7570946" y="6337578"/>
            <a:ext cx="3430072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Validate critical control verification program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93790" y="6872347"/>
            <a:ext cx="74414" cy="74414"/>
          </a:xfrm>
          <a:prstGeom prst="roundRect">
            <a:avLst>
              <a:gd name="adj" fmla="val 614401"/>
            </a:avLst>
          </a:prstGeom>
          <a:solidFill>
            <a:srgbClr val="2150FE"/>
          </a:solidFill>
          <a:ln/>
        </p:spPr>
      </p:sp>
      <p:sp>
        <p:nvSpPr>
          <p:cNvPr id="30" name="Text 28"/>
          <p:cNvSpPr/>
          <p:nvPr/>
        </p:nvSpPr>
        <p:spPr>
          <a:xfrm>
            <a:off x="979765" y="6793349"/>
            <a:ext cx="2999065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Review board risk reporting thresholds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384971" y="6872347"/>
            <a:ext cx="74414" cy="74414"/>
          </a:xfrm>
          <a:prstGeom prst="roundRect">
            <a:avLst>
              <a:gd name="adj" fmla="val 614401"/>
            </a:avLst>
          </a:prstGeom>
          <a:solidFill>
            <a:srgbClr val="2150FE"/>
          </a:solidFill>
          <a:ln/>
        </p:spPr>
      </p:sp>
      <p:sp>
        <p:nvSpPr>
          <p:cNvPr id="32" name="Text 30"/>
          <p:cNvSpPr/>
          <p:nvPr/>
        </p:nvSpPr>
        <p:spPr>
          <a:xfrm>
            <a:off x="7570946" y="6793349"/>
            <a:ext cx="2908459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Stress-test energy transition exposure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93790" y="7151370"/>
            <a:ext cx="13042821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Sustainable oil &amp; gas operations require disciplined, transparent, and proactive risk governance.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3025140"/>
            <a:ext cx="726400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3092291"/>
            <a:ext cx="47303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LEGAL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349281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Property Notice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4410551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presentation is the intellectual property of </a:t>
            </a:r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Phumi Mhlongo</a:t>
            </a:r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</a:t>
            </a:r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Nozipho Memela</a:t>
            </a:r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All rights reserved. Unauthorized reproduction, redistribution, or commercial use is strictly prohibited without prior written consent.</a:t>
            </a:r>
            <a:endParaRPr lang="en-US" sz="1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826663"/>
            <a:ext cx="726400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2893814"/>
            <a:ext cx="47303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LEGAL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329434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Disclaimer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4212074"/>
            <a:ext cx="13042821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material is provided for educational and professional purposes only. Organizations must apply independent professional judgment when implementing risk management frameworks within their specific regulatory and operational environment.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2026-02-27T05:50:40Z</dcterms:created>
  <dcterms:modified xsi:type="dcterms:W3CDTF">2026-02-27T05:50:40Z</dcterms:modified>
</cp:coreProperties>
</file>