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4630400" cy="8229600"/>
  <p:notesSz cx="8229600" cy="14630400"/>
  <p:embeddedFontLst>
    <p:embeddedFont>
      <p:font typeface="Host Grotesk Medium"/>
      <p:regular r:id="rId33"/>
    </p:embeddedFont>
    <p:embeddedFont>
      <p:font typeface="Host Grotesk Medium"/>
      <p:regular r:id="rId34"/>
    </p:embeddedFont>
    <p:embeddedFont>
      <p:font typeface="Host Grotesk Medium"/>
      <p:regular r:id="rId35"/>
    </p:embeddedFont>
    <p:embeddedFont>
      <p:font typeface="Host Grotesk Medium"/>
      <p:regular r:id="rId36"/>
    </p:embeddedFont>
    <p:embeddedFont>
      <p:font typeface="Roboto"/>
      <p:regular r:id="rId37"/>
    </p:embeddedFont>
    <p:embeddedFont>
      <p:font typeface="Roboto"/>
      <p:regular r:id="rId38"/>
    </p:embeddedFont>
    <p:embeddedFont>
      <p:font typeface="Roboto"/>
      <p:regular r:id="rId39"/>
    </p:embeddedFont>
    <p:embeddedFont>
      <p:font typeface="Roboto"/>
      <p:regular r:id="rId4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font" Target="fonts/font5.fntdata"/><Relationship Id="rId38" Type="http://schemas.openxmlformats.org/officeDocument/2006/relationships/font" Target="fonts/font6.fntdata"/><Relationship Id="rId39" Type="http://schemas.openxmlformats.org/officeDocument/2006/relationships/font" Target="fonts/font7.fntdata"/><Relationship Id="rId4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slideLayout" Target="../slideLayouts/slideLayout6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15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17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8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sv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slideLayout" Target="../slideLayouts/slideLayout19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sv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sv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slideLayout" Target="../slideLayouts/slideLayout23.xml"/><Relationship Id="rId1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51321"/>
            <a:ext cx="69655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73B48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Governance, Accountability &amp; Service Delivery Risk Oversight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658314"/>
            <a:ext cx="13042821" cy="74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Sector Risk Management</a:t>
            </a:r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Governance, Accountability &amp; Service Delivery Risk Oversight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4725084"/>
            <a:ext cx="13042821" cy="32385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980623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by: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Phumi Mhlongo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&amp;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Nozipho Memela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404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Agenda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3095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45281"/>
            <a:ext cx="6422231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390180"/>
            <a:ext cx="33319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Public Sector Risk Landscape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414379" y="193095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379" y="2245281"/>
            <a:ext cx="6422231" cy="228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14379" y="2390180"/>
            <a:ext cx="35123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Categories in Government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93790" y="30475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42084"/>
            <a:ext cx="6422231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3506748"/>
            <a:ext cx="33042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Governance &amp; Accountability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414379" y="30475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379" y="3342084"/>
            <a:ext cx="6422231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14379" y="350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Service Delivery Risks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93790" y="416409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38769"/>
            <a:ext cx="6422231" cy="228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4623316"/>
            <a:ext cx="34101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Financial &amp; Procurement Risks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7414379" y="416409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06</a:t>
            </a:r>
            <a:endParaRPr lang="en-US" sz="15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379" y="4438769"/>
            <a:ext cx="6422231" cy="228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14379" y="4623316"/>
            <a:ext cx="33833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IT, Compliance &amp; Political Risk</a:t>
            </a:r>
            <a:endParaRPr lang="en-US" sz="1950" dirty="0"/>
          </a:p>
        </p:txBody>
      </p:sp>
      <p:sp>
        <p:nvSpPr>
          <p:cNvPr id="21" name="Text 13"/>
          <p:cNvSpPr/>
          <p:nvPr/>
        </p:nvSpPr>
        <p:spPr>
          <a:xfrm>
            <a:off x="793790" y="52806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07</a:t>
            </a:r>
            <a:endParaRPr lang="en-US" sz="15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535573"/>
            <a:ext cx="6422231" cy="228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3790" y="5739884"/>
            <a:ext cx="37040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Assessment &amp; Risk Register</a:t>
            </a:r>
            <a:endParaRPr lang="en-US" sz="1950" dirty="0"/>
          </a:p>
        </p:txBody>
      </p:sp>
      <p:sp>
        <p:nvSpPr>
          <p:cNvPr id="24" name="Text 15"/>
          <p:cNvSpPr/>
          <p:nvPr/>
        </p:nvSpPr>
        <p:spPr>
          <a:xfrm>
            <a:off x="7414379" y="52806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08</a:t>
            </a:r>
            <a:endParaRPr lang="en-US" sz="15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4379" y="5535573"/>
            <a:ext cx="6422231" cy="228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14379" y="5739884"/>
            <a:ext cx="31945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Audit &amp; Oversight Reporting</a:t>
            </a:r>
            <a:endParaRPr lang="en-US" sz="1950" dirty="0"/>
          </a:p>
        </p:txBody>
      </p:sp>
      <p:sp>
        <p:nvSpPr>
          <p:cNvPr id="27" name="Text 17"/>
          <p:cNvSpPr/>
          <p:nvPr/>
        </p:nvSpPr>
        <p:spPr>
          <a:xfrm>
            <a:off x="793790" y="639722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09</a:t>
            </a:r>
            <a:endParaRPr lang="en-US" sz="15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90" y="6632258"/>
            <a:ext cx="6422231" cy="2286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93790" y="6856452"/>
            <a:ext cx="29290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Implementation Roadmap</a:t>
            </a:r>
            <a:endParaRPr lang="en-US" sz="1950" dirty="0"/>
          </a:p>
        </p:txBody>
      </p:sp>
      <p:sp>
        <p:nvSpPr>
          <p:cNvPr id="30" name="Text 19"/>
          <p:cNvSpPr/>
          <p:nvPr/>
        </p:nvSpPr>
        <p:spPr>
          <a:xfrm>
            <a:off x="7414379" y="639722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10</a:t>
            </a:r>
            <a:endParaRPr lang="en-US" sz="15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4379" y="6632258"/>
            <a:ext cx="6422231" cy="228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414379" y="68564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Takeaways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644" y="720804"/>
            <a:ext cx="914638" cy="343853"/>
          </a:xfrm>
          <a:prstGeom prst="roundRect">
            <a:avLst>
              <a:gd name="adj" fmla="val 1885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887373" y="778669"/>
            <a:ext cx="683181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1644" y="1139666"/>
            <a:ext cx="6478429" cy="60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Public Sector Risk Landscape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71644" y="2023705"/>
            <a:ext cx="13087112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sector risk management differs fundamentally from private sector risk management.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71644" y="2661642"/>
            <a:ext cx="2893933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characteristics: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644" y="3304580"/>
            <a:ext cx="482322" cy="4823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1644" y="4021336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Citizen Accountability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71644" y="4435316"/>
            <a:ext cx="42060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Accountability to citizens and oversight bodies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2080" y="3304580"/>
            <a:ext cx="482322" cy="4823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4021336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Budget Constraints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5212080" y="4435316"/>
            <a:ext cx="42061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constraints driven by fiscal cycles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635" y="3304580"/>
            <a:ext cx="482322" cy="4823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52635" y="4021336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Political Influence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9652635" y="4435316"/>
            <a:ext cx="42060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Political environment influence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644" y="5095637"/>
            <a:ext cx="482322" cy="48232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1644" y="5812393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Public Scrutiny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771644" y="6226373"/>
            <a:ext cx="420600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Transparency and public scrutiny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2080" y="5095637"/>
            <a:ext cx="482322" cy="48232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5812393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Legal Obligations</a:t>
            </a:r>
            <a:endParaRPr lang="en-US" sz="1850" dirty="0"/>
          </a:p>
        </p:txBody>
      </p:sp>
      <p:sp>
        <p:nvSpPr>
          <p:cNvPr id="21" name="Text 14"/>
          <p:cNvSpPr/>
          <p:nvPr/>
        </p:nvSpPr>
        <p:spPr>
          <a:xfrm>
            <a:off x="5212080" y="6226373"/>
            <a:ext cx="42061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and regulatory obligations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771644" y="6722626"/>
            <a:ext cx="13087112" cy="786170"/>
          </a:xfrm>
          <a:prstGeom prst="roundRect">
            <a:avLst>
              <a:gd name="adj" fmla="val 10307"/>
            </a:avLst>
          </a:prstGeom>
          <a:solidFill>
            <a:srgbClr val="C6E4EB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525" y="7000637"/>
            <a:ext cx="241102" cy="19288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98508" y="6958370"/>
            <a:ext cx="1226736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private entities, government organizations cannot exit unprofitable services. They must deliver public value regardless of cost pressures.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52863"/>
            <a:ext cx="1203365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012394"/>
            <a:ext cx="96524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389465"/>
            <a:ext cx="702635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Categories in Government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307199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sector risks typically fall into four core categories: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828098"/>
            <a:ext cx="3111937" cy="2448520"/>
          </a:xfrm>
          <a:prstGeom prst="roundRect">
            <a:avLst>
              <a:gd name="adj" fmla="val 340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768" y="40340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Strategic Risks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9768" y="4463296"/>
            <a:ext cx="2699980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Risks affecting mandate delivery and long-term objectives.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99768" y="5475327"/>
            <a:ext cx="269998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Policy shifts or funding reductions.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104084" y="3828098"/>
            <a:ext cx="3111937" cy="2448520"/>
          </a:xfrm>
          <a:prstGeom prst="roundRect">
            <a:avLst>
              <a:gd name="adj" fmla="val 340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0063" y="40340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Operational Risks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310063" y="4463296"/>
            <a:ext cx="269998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Risks impacting day-to-day service delivery.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310063" y="5177671"/>
            <a:ext cx="269998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System failures delaying public services.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14379" y="3828098"/>
            <a:ext cx="3111937" cy="2448520"/>
          </a:xfrm>
          <a:prstGeom prst="roundRect">
            <a:avLst>
              <a:gd name="adj" fmla="val 340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357" y="40340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Financial Risks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620357" y="4463296"/>
            <a:ext cx="2699980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Risks affecting budget integrity and fiscal stewardship.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20357" y="5475327"/>
            <a:ext cx="269998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Overspending or grant mismanagement.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0724674" y="3828098"/>
            <a:ext cx="3111937" cy="2448520"/>
          </a:xfrm>
          <a:prstGeom prst="roundRect">
            <a:avLst>
              <a:gd name="adj" fmla="val 340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30652" y="40340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Compliance Risks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930652" y="4463296"/>
            <a:ext cx="269998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Risks of non-adherence to laws and regulations.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930652" y="5177671"/>
            <a:ext cx="269998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Procurement violations.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82993"/>
            <a:ext cx="1267658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142524"/>
            <a:ext cx="102953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519595"/>
            <a:ext cx="66101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Governance &amp; Accountability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437328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accountability is the foundation of public sector risk management.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1071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components: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93790" y="4074557"/>
            <a:ext cx="4215289" cy="1027509"/>
          </a:xfrm>
          <a:prstGeom prst="roundRect">
            <a:avLst>
              <a:gd name="adj" fmla="val 10679"/>
            </a:avLst>
          </a:prstGeom>
          <a:solidFill>
            <a:srgbClr val="FAF9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051697"/>
            <a:ext cx="4215289" cy="914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778" y="3776901"/>
            <a:ext cx="595313" cy="595313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2372" y="3955494"/>
            <a:ext cx="238125" cy="238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5008" y="4570690"/>
            <a:ext cx="29426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Governing body oversight</a:t>
            </a:r>
            <a:endParaRPr lang="en-US" sz="1950" dirty="0"/>
          </a:p>
        </p:txBody>
      </p:sp>
      <p:sp>
        <p:nvSpPr>
          <p:cNvPr id="12" name="Shape 7"/>
          <p:cNvSpPr/>
          <p:nvPr/>
        </p:nvSpPr>
        <p:spPr>
          <a:xfrm>
            <a:off x="5207437" y="4074557"/>
            <a:ext cx="4215408" cy="1027509"/>
          </a:xfrm>
          <a:prstGeom prst="roundRect">
            <a:avLst>
              <a:gd name="adj" fmla="val 10679"/>
            </a:avLst>
          </a:prstGeom>
          <a:solidFill>
            <a:srgbClr val="FAF9F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437" y="4051697"/>
            <a:ext cx="4215408" cy="9144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425" y="3776901"/>
            <a:ext cx="595313" cy="59531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6018" y="3955494"/>
            <a:ext cx="238125" cy="2381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28655" y="4570690"/>
            <a:ext cx="32613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Clear delegation of authority</a:t>
            </a:r>
            <a:endParaRPr lang="en-US" sz="1950" dirty="0"/>
          </a:p>
        </p:txBody>
      </p:sp>
      <p:sp>
        <p:nvSpPr>
          <p:cNvPr id="17" name="Shape 9"/>
          <p:cNvSpPr/>
          <p:nvPr/>
        </p:nvSpPr>
        <p:spPr>
          <a:xfrm>
            <a:off x="9621203" y="4074557"/>
            <a:ext cx="4215289" cy="1027509"/>
          </a:xfrm>
          <a:prstGeom prst="roundRect">
            <a:avLst>
              <a:gd name="adj" fmla="val 10679"/>
            </a:avLst>
          </a:prstGeom>
          <a:solidFill>
            <a:srgbClr val="FAF9F5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1203" y="4051697"/>
            <a:ext cx="4215289" cy="9144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1191" y="3776901"/>
            <a:ext cx="595313" cy="595313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09784" y="3955494"/>
            <a:ext cx="238125" cy="23812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842421" y="4570690"/>
            <a:ext cx="25844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Defined risk ownership</a:t>
            </a:r>
            <a:endParaRPr lang="en-US" sz="1950" dirty="0"/>
          </a:p>
        </p:txBody>
      </p:sp>
      <p:sp>
        <p:nvSpPr>
          <p:cNvPr id="22" name="Shape 11"/>
          <p:cNvSpPr/>
          <p:nvPr/>
        </p:nvSpPr>
        <p:spPr>
          <a:xfrm>
            <a:off x="793790" y="5598081"/>
            <a:ext cx="6422112" cy="1027509"/>
          </a:xfrm>
          <a:prstGeom prst="roundRect">
            <a:avLst>
              <a:gd name="adj" fmla="val 10679"/>
            </a:avLst>
          </a:prstGeom>
          <a:solidFill>
            <a:srgbClr val="FAF9F5"/>
          </a:solidFill>
          <a:ln/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790" y="5575221"/>
            <a:ext cx="6422112" cy="91440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7130" y="5300424"/>
            <a:ext cx="595313" cy="595313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85724" y="5479018"/>
            <a:ext cx="238125" cy="238125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1015008" y="60942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Transparent reporting</a:t>
            </a:r>
            <a:endParaRPr lang="en-US" sz="1950" dirty="0"/>
          </a:p>
        </p:txBody>
      </p:sp>
      <p:sp>
        <p:nvSpPr>
          <p:cNvPr id="27" name="Shape 13"/>
          <p:cNvSpPr/>
          <p:nvPr/>
        </p:nvSpPr>
        <p:spPr>
          <a:xfrm>
            <a:off x="7414260" y="5598081"/>
            <a:ext cx="6422231" cy="1027509"/>
          </a:xfrm>
          <a:prstGeom prst="roundRect">
            <a:avLst>
              <a:gd name="adj" fmla="val 10679"/>
            </a:avLst>
          </a:prstGeom>
          <a:solidFill>
            <a:srgbClr val="FAF9F5"/>
          </a:solidFill>
          <a:ln/>
        </p:spPr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4260" y="5575221"/>
            <a:ext cx="6422231" cy="91440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7719" y="5300424"/>
            <a:ext cx="595313" cy="595313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506313" y="5479018"/>
            <a:ext cx="238125" cy="238125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7635478" y="60942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Ethical leadership</a:t>
            </a:r>
            <a:endParaRPr lang="en-US" sz="1950" dirty="0"/>
          </a:p>
        </p:txBody>
      </p:sp>
      <p:sp>
        <p:nvSpPr>
          <p:cNvPr id="32" name="Text 15"/>
          <p:cNvSpPr/>
          <p:nvPr/>
        </p:nvSpPr>
        <p:spPr>
          <a:xfrm>
            <a:off x="793790" y="6848832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governance ensures risk decisions align with public interest, legislative mandates, and strategic objectives.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52280"/>
            <a:ext cx="1599724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111812"/>
            <a:ext cx="136159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DELIVERY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488883"/>
            <a:ext cx="49624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Service Delivery Risks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406616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delivery risks directly affect citizens.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50915" y="4002048"/>
            <a:ext cx="6565106" cy="2175153"/>
          </a:xfrm>
          <a:prstGeom prst="roundRect">
            <a:avLst>
              <a:gd name="adj" fmla="val 6570"/>
            </a:avLst>
          </a:prstGeom>
          <a:solidFill>
            <a:srgbClr val="373B48"/>
          </a:solidFill>
          <a:ln/>
        </p:spPr>
      </p:sp>
      <p:sp>
        <p:nvSpPr>
          <p:cNvPr id="7" name="Text 5"/>
          <p:cNvSpPr/>
          <p:nvPr/>
        </p:nvSpPr>
        <p:spPr>
          <a:xfrm>
            <a:off x="849273" y="42004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Examples: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49273" y="4708922"/>
            <a:ext cx="6168390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system outages delaying benefits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Staffing shortages affecting hospitals or schools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Infrastructure failure disrupting utilities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Delays in license approvals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2004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Mitigation requires: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564874" y="4708922"/>
            <a:ext cx="6279356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continuity planning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Contingency resources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monitoring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Service-level accountability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17615"/>
            <a:ext cx="1037272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977146"/>
            <a:ext cx="79914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54217"/>
            <a:ext cx="643842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Financial Management Risks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271951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funds require strict stewardship.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0657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risks:</a:t>
            </a:r>
            <a:endParaRPr lang="en-US" sz="2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0" y="3638193"/>
            <a:ext cx="45720" cy="3433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7868" y="3661053"/>
            <a:ext cx="60352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shortfalls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30" y="4332684"/>
            <a:ext cx="45720" cy="3433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7868" y="4355544"/>
            <a:ext cx="60352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Unauthorized expenditure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5027176"/>
            <a:ext cx="45720" cy="3433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7868" y="5050036"/>
            <a:ext cx="60352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Grant misallocation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30" y="5721668"/>
            <a:ext cx="45720" cy="3433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7868" y="5744528"/>
            <a:ext cx="60352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under-collection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564874" y="30657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Controls include:</a:t>
            </a:r>
            <a:endParaRPr lang="en-US" sz="2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14" y="3638193"/>
            <a:ext cx="45720" cy="3433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08952" y="3661053"/>
            <a:ext cx="60352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Segregation of duties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2014" y="4332684"/>
            <a:ext cx="45720" cy="3433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808952" y="4355544"/>
            <a:ext cx="60352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monitoring dashboards</a:t>
            </a:r>
            <a:endParaRPr lang="en-US" sz="15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014" y="5027176"/>
            <a:ext cx="45720" cy="34337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808952" y="5050036"/>
            <a:ext cx="60352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trails</a:t>
            </a:r>
            <a:endParaRPr lang="en-US" sz="15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2014" y="5721668"/>
            <a:ext cx="45720" cy="34337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808952" y="5744528"/>
            <a:ext cx="60352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Treasury compliance frameworks</a:t>
            </a:r>
            <a:endParaRPr lang="en-US" sz="1550" dirty="0"/>
          </a:p>
        </p:txBody>
      </p:sp>
      <p:sp>
        <p:nvSpPr>
          <p:cNvPr id="24" name="Shape 14"/>
          <p:cNvSpPr/>
          <p:nvPr/>
        </p:nvSpPr>
        <p:spPr>
          <a:xfrm>
            <a:off x="793790" y="6488668"/>
            <a:ext cx="13042821" cy="823317"/>
          </a:xfrm>
          <a:prstGeom prst="roundRect">
            <a:avLst>
              <a:gd name="adj" fmla="val 10125"/>
            </a:avLst>
          </a:prstGeom>
          <a:solidFill>
            <a:srgbClr val="C6E4EB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6776323"/>
            <a:ext cx="248007" cy="19835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438513" y="6736556"/>
            <a:ext cx="12199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mismanagement carries reputational and legal consequences.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21324"/>
            <a:ext cx="1373981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080855"/>
            <a:ext cx="1135856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PROCUREMENT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45792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Procurement Risks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375660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Procurement is one of the highest risk areas in government.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1694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Major risks: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739878"/>
            <a:ext cx="6279356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Conflict of interest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Bid manipulation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mismanagement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underperformance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21999" y="3971092"/>
            <a:ext cx="6565106" cy="2237065"/>
          </a:xfrm>
          <a:prstGeom prst="roundRect">
            <a:avLst>
              <a:gd name="adj" fmla="val 6388"/>
            </a:avLst>
          </a:prstGeom>
          <a:solidFill>
            <a:srgbClr val="373B48"/>
          </a:solidFill>
          <a:ln/>
        </p:spPr>
      </p:sp>
      <p:sp>
        <p:nvSpPr>
          <p:cNvPr id="9" name="Text 7"/>
          <p:cNvSpPr/>
          <p:nvPr/>
        </p:nvSpPr>
        <p:spPr>
          <a:xfrm>
            <a:off x="7620357" y="4169450"/>
            <a:ext cx="32042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Strong controls include: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620357" y="4739878"/>
            <a:ext cx="6168390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Competitive bidding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evaluation criteria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due diligence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performance monitoring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06999"/>
            <a:ext cx="1475899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766530"/>
            <a:ext cx="123777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CAPITAL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14360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Human Capital Risks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061335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Government performance depends on workforce capability.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3656767"/>
            <a:ext cx="6422231" cy="2865834"/>
          </a:xfrm>
          <a:prstGeom prst="roundRect">
            <a:avLst>
              <a:gd name="adj" fmla="val 290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6650" y="3679627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D9ED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56077" y="3824526"/>
            <a:ext cx="297656" cy="297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5008" y="44732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Risks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15008" y="4902518"/>
            <a:ext cx="5979795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shortages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turnover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 action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Succession gaps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414379" y="3656767"/>
            <a:ext cx="6422231" cy="2865834"/>
          </a:xfrm>
          <a:prstGeom prst="roundRect">
            <a:avLst>
              <a:gd name="adj" fmla="val 290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37239" y="3679627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D9ED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667" y="3824526"/>
            <a:ext cx="297656" cy="297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597" y="44732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Mitigation Strategies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7635597" y="4902518"/>
            <a:ext cx="5979795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Workforce planning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development programs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Leadership pipelines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Employee engagement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92612"/>
            <a:ext cx="1255038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952143"/>
            <a:ext cx="101691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2921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IT &amp; Cybersecurity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246948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institutions are prime cyber targets.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0407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Major risks:</a:t>
            </a:r>
            <a:endParaRPr lang="en-US" sz="2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741480"/>
            <a:ext cx="99179" cy="991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1327" y="36360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breaches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448473"/>
            <a:ext cx="99179" cy="991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1327" y="43430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Ransomware attacks</a:t>
            </a:r>
            <a:endParaRPr lang="en-US" sz="1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55466"/>
            <a:ext cx="99179" cy="991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1327" y="5050036"/>
            <a:ext cx="35748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Critical infrastructure disruption</a:t>
            </a:r>
            <a:endParaRPr lang="en-US" sz="1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862459"/>
            <a:ext cx="99179" cy="991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1327" y="57570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downtime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564874" y="30407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controls:</a:t>
            </a:r>
            <a:endParaRPr lang="en-US" sz="2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874" y="3741480"/>
            <a:ext cx="99179" cy="9917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62411" y="3636050"/>
            <a:ext cx="30099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Multi-factor authentication</a:t>
            </a:r>
            <a:endParaRPr lang="en-US" sz="1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4874" y="4448473"/>
            <a:ext cx="99179" cy="9917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862411" y="4343043"/>
            <a:ext cx="25837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Network segmentation</a:t>
            </a:r>
            <a:endParaRPr lang="en-US" sz="19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4874" y="5155466"/>
            <a:ext cx="99179" cy="99179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862411" y="50500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monitoring</a:t>
            </a:r>
            <a:endParaRPr lang="en-US" sz="19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4874" y="5862459"/>
            <a:ext cx="99179" cy="99179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862411" y="5757029"/>
            <a:ext cx="26810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Incident response plans</a:t>
            </a:r>
            <a:endParaRPr lang="en-US" sz="1950" dirty="0"/>
          </a:p>
        </p:txBody>
      </p:sp>
      <p:sp>
        <p:nvSpPr>
          <p:cNvPr id="24" name="Shape 14"/>
          <p:cNvSpPr/>
          <p:nvPr/>
        </p:nvSpPr>
        <p:spPr>
          <a:xfrm>
            <a:off x="793790" y="6513671"/>
            <a:ext cx="13042821" cy="823317"/>
          </a:xfrm>
          <a:prstGeom prst="roundRect">
            <a:avLst>
              <a:gd name="adj" fmla="val 10125"/>
            </a:avLst>
          </a:prstGeom>
          <a:solidFill>
            <a:srgbClr val="C6E4EB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6801326"/>
            <a:ext cx="248007" cy="19835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438513" y="6761559"/>
            <a:ext cx="12199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 risk is both operational and reputational.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52280"/>
            <a:ext cx="1229678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111812"/>
            <a:ext cx="99155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488883"/>
            <a:ext cx="52987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Regulatory Compliance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406616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organizations operate under extensive statutory frameworks.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50915" y="4002048"/>
            <a:ext cx="5888712" cy="2175153"/>
          </a:xfrm>
          <a:prstGeom prst="roundRect">
            <a:avLst>
              <a:gd name="adj" fmla="val 6570"/>
            </a:avLst>
          </a:prstGeom>
          <a:solidFill>
            <a:srgbClr val="373B48"/>
          </a:solidFill>
          <a:ln/>
        </p:spPr>
      </p:sp>
      <p:sp>
        <p:nvSpPr>
          <p:cNvPr id="7" name="Text 5"/>
          <p:cNvSpPr/>
          <p:nvPr/>
        </p:nvSpPr>
        <p:spPr>
          <a:xfrm>
            <a:off x="849273" y="42004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Examples: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49273" y="4708922"/>
            <a:ext cx="5491996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regulations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Procurement laws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Environmental legislation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protection requirements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88480" y="4200406"/>
            <a:ext cx="40765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Compliance risk mitigation includes: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88480" y="4708922"/>
            <a:ext cx="6955631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registers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 systems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Periodic reviews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Internal audits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9977"/>
            <a:ext cx="1243251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829508"/>
            <a:ext cx="1005126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206579"/>
            <a:ext cx="539746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Assessment Matrix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124313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sector risk scoring typically uses a 5×5 matrix: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898338"/>
            <a:ext cx="69556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Likelihood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(1–5) ×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(1–5)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374588"/>
            <a:ext cx="695563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score = Likelihood × Impact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38706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Severity zones: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93790" y="4465915"/>
            <a:ext cx="6955631" cy="2770346"/>
          </a:xfrm>
          <a:prstGeom prst="roundRect">
            <a:avLst>
              <a:gd name="adj" fmla="val 300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10" y="4473535"/>
            <a:ext cx="694039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0006" y="4600218"/>
            <a:ext cx="2375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79877" y="4600218"/>
            <a:ext cx="167771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Range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861923" y="4600218"/>
            <a:ext cx="168152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5024557"/>
            <a:ext cx="6940391" cy="5510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0006" y="5151239"/>
            <a:ext cx="2375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🟢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Low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79877" y="5151239"/>
            <a:ext cx="167771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1–5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61923" y="5151239"/>
            <a:ext cx="168152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Acceptable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1410" y="5575578"/>
            <a:ext cx="694039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0006" y="5702260"/>
            <a:ext cx="2375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🟡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Medium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779877" y="5702260"/>
            <a:ext cx="167771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6–10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861923" y="5702260"/>
            <a:ext cx="168152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1410" y="6126599"/>
            <a:ext cx="6940391" cy="5510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00006" y="6253282"/>
            <a:ext cx="2375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🟠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779877" y="6253282"/>
            <a:ext cx="167771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11–15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861923" y="6253282"/>
            <a:ext cx="168152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 Required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01410" y="6677620"/>
            <a:ext cx="6940391" cy="5510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00006" y="6804303"/>
            <a:ext cx="2375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🔴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Critical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3779877" y="6804303"/>
            <a:ext cx="167771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16–25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861923" y="6804303"/>
            <a:ext cx="168152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Action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241149" y="2942987"/>
            <a:ext cx="5602962" cy="1716286"/>
          </a:xfrm>
          <a:prstGeom prst="roundRect">
            <a:avLst>
              <a:gd name="adj" fmla="val 4857"/>
            </a:avLst>
          </a:prstGeom>
          <a:solidFill>
            <a:srgbClr val="C6E4EB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507" y="3230642"/>
            <a:ext cx="248007" cy="19835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885873" y="3190875"/>
            <a:ext cx="4759881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infrastructure failure</a:t>
            </a:r>
            <a:endParaRPr lang="en-US" sz="15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 Likelihood 3 × Impact 5</a:t>
            </a:r>
            <a:endParaRPr lang="en-US" sz="15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(High)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07494"/>
            <a:ext cx="1378267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967026"/>
            <a:ext cx="114014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POLITICAL RISK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44097"/>
            <a:ext cx="497336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Political &amp; Policy Risks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261830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Political risk is unique to government environments.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5089684"/>
            <a:ext cx="13042821" cy="22860"/>
          </a:xfrm>
          <a:prstGeom prst="roundRect">
            <a:avLst>
              <a:gd name="adj" fmla="val 364651"/>
            </a:avLst>
          </a:prstGeom>
          <a:solidFill>
            <a:srgbClr val="BFD3D8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2857262"/>
            <a:ext cx="6397347" cy="2232422"/>
          </a:xfrm>
          <a:prstGeom prst="roundRect">
            <a:avLst>
              <a:gd name="adj" fmla="val 373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2011" y="30632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Examples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9768" y="3492460"/>
            <a:ext cx="5985391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 changes after elections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reprioritization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opinion shifts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Legislative amendments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39144" y="5112544"/>
            <a:ext cx="6397466" cy="2232422"/>
          </a:xfrm>
          <a:prstGeom prst="rect">
            <a:avLst/>
          </a:prstGeom>
          <a:solidFill>
            <a:srgbClr val="D9EDF2"/>
          </a:solidFill>
          <a:ln/>
        </p:spPr>
      </p:sp>
      <p:sp>
        <p:nvSpPr>
          <p:cNvPr id="11" name="Text 9"/>
          <p:cNvSpPr/>
          <p:nvPr/>
        </p:nvSpPr>
        <p:spPr>
          <a:xfrm>
            <a:off x="9397365" y="53109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Mitigation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45122" y="5740122"/>
            <a:ext cx="5985510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 planning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 mapping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Transition documentation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Non-partisan professionalism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89484"/>
            <a:ext cx="1408628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49016"/>
            <a:ext cx="117050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26087"/>
            <a:ext cx="58649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Stakeholder Management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43820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Government stakeholders include: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539252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2833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Citizens</a:t>
            </a:r>
            <a:endParaRPr lang="en-US" sz="1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3539252"/>
            <a:ext cx="496133" cy="4961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23986" y="4283393"/>
            <a:ext cx="25061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Oversight committees</a:t>
            </a:r>
            <a:endParaRPr lang="en-US" sz="1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3539252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42833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Media</a:t>
            </a:r>
            <a:endParaRPr lang="en-US" sz="1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90386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345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Employees</a:t>
            </a:r>
            <a:endParaRPr lang="en-US" sz="1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3986" y="4990386"/>
            <a:ext cx="496133" cy="49613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23986" y="57345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Regulatory bodies</a:t>
            </a: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793790" y="6267926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stakeholder management reduces reputational risk and improves transparency.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95820"/>
            <a:ext cx="1722953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55351"/>
            <a:ext cx="148482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PREVENTION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32422"/>
            <a:ext cx="68610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Fraud &amp; Corruption Prevention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3485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Fraud risks include: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918942"/>
            <a:ext cx="6279356" cy="1031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Procurement corruption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Payroll fraud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Misuse of public assets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348514"/>
            <a:ext cx="330207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Prevention mechanisms: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64874" y="3918942"/>
            <a:ext cx="6279356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Whistleblower protection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risk assessments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forensic audits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Ethics training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5610463"/>
            <a:ext cx="13042821" cy="823317"/>
          </a:xfrm>
          <a:prstGeom prst="roundRect">
            <a:avLst>
              <a:gd name="adj" fmla="val 10125"/>
            </a:avLst>
          </a:prstGeom>
          <a:solidFill>
            <a:srgbClr val="C6E4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898118"/>
            <a:ext cx="248007" cy="1983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8513" y="5858351"/>
            <a:ext cx="121997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Anti-corruption frameworks protect public trust.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79947"/>
            <a:ext cx="1165146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539478"/>
            <a:ext cx="92702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16549"/>
            <a:ext cx="57323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Emergency Management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834283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Government must prepare for: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3429714"/>
            <a:ext cx="3111937" cy="752594"/>
          </a:xfrm>
          <a:prstGeom prst="roundRect">
            <a:avLst>
              <a:gd name="adj" fmla="val 1107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5008" y="36509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Natural disasters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104084" y="3429714"/>
            <a:ext cx="3111937" cy="752594"/>
          </a:xfrm>
          <a:prstGeom prst="roundRect">
            <a:avLst>
              <a:gd name="adj" fmla="val 1107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303" y="36509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Public health crises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414379" y="3429714"/>
            <a:ext cx="3111937" cy="752594"/>
          </a:xfrm>
          <a:prstGeom prst="roundRect">
            <a:avLst>
              <a:gd name="adj" fmla="val 1107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597" y="3650933"/>
            <a:ext cx="252257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Infrastructure collapse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724674" y="3429714"/>
            <a:ext cx="3111937" cy="752594"/>
          </a:xfrm>
          <a:prstGeom prst="roundRect">
            <a:avLst>
              <a:gd name="adj" fmla="val 1107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45892" y="36509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Civil unrest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4479965"/>
            <a:ext cx="531518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Effective emergency planning includes:</a:t>
            </a:r>
            <a:endParaRPr lang="en-US" sz="2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204" y="5155763"/>
            <a:ext cx="297656" cy="2976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38632" y="5149691"/>
            <a:ext cx="34150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Crisis management structures</a:t>
            </a:r>
            <a:endParaRPr lang="en-US" sz="1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3558" y="5155763"/>
            <a:ext cx="297656" cy="2976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83987" y="5149691"/>
            <a:ext cx="29066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Communication protocols</a:t>
            </a:r>
            <a:endParaRPr lang="en-US" sz="1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204" y="6154103"/>
            <a:ext cx="297656" cy="2976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38632" y="6148030"/>
            <a:ext cx="31365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Resource mobilization plans</a:t>
            </a:r>
            <a:endParaRPr lang="en-US" sz="1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3558" y="6154103"/>
            <a:ext cx="297656" cy="2976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83987" y="6148030"/>
            <a:ext cx="25585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Continuity frameworks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87673"/>
            <a:ext cx="1559957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447205"/>
            <a:ext cx="132183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82427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Infrastructure Risks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742009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infrastructure risks include: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0" y="3337441"/>
            <a:ext cx="6443067" cy="45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5815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Aging facilities</a:t>
            </a:r>
            <a:endParaRPr lang="en-US" sz="1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284" y="3337441"/>
            <a:ext cx="6443186" cy="45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39144" y="3581519"/>
            <a:ext cx="25219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Deferred maintenance</a:t>
            </a:r>
            <a:endParaRPr lang="en-US" sz="1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4288512"/>
            <a:ext cx="6443067" cy="45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45325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Utility failures</a:t>
            </a:r>
            <a:endParaRPr lang="en-US" sz="1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284" y="4288512"/>
            <a:ext cx="6443186" cy="457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9144" y="4532590"/>
            <a:ext cx="26158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Asset mismanagement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93790" y="5140404"/>
            <a:ext cx="32300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mitigation requires: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793790" y="5810131"/>
            <a:ext cx="13042821" cy="1031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Asset registers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Preventive maintenance plans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Capital investment strategies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29170"/>
            <a:ext cx="1340525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988701"/>
            <a:ext cx="110240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365772"/>
            <a:ext cx="671429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Environmental Considerations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283506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Environmental risks include: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3878937"/>
            <a:ext cx="3111937" cy="1825943"/>
          </a:xfrm>
          <a:prstGeom prst="roundRect">
            <a:avLst>
              <a:gd name="adj" fmla="val 45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68" y="4084915"/>
            <a:ext cx="595313" cy="59531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479" y="4248507"/>
            <a:ext cx="267891" cy="2678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9768" y="48785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Climate impact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4104084" y="3878937"/>
            <a:ext cx="3111937" cy="1825943"/>
          </a:xfrm>
          <a:prstGeom prst="roundRect">
            <a:avLst>
              <a:gd name="adj" fmla="val 45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063" y="4084915"/>
            <a:ext cx="595313" cy="59531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3773" y="4248507"/>
            <a:ext cx="267891" cy="2678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10063" y="48785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Regulatory penalties</a:t>
            </a:r>
            <a:endParaRPr lang="en-US" sz="1950" dirty="0"/>
          </a:p>
        </p:txBody>
      </p:sp>
      <p:sp>
        <p:nvSpPr>
          <p:cNvPr id="14" name="Shape 8"/>
          <p:cNvSpPr/>
          <p:nvPr/>
        </p:nvSpPr>
        <p:spPr>
          <a:xfrm>
            <a:off x="7414379" y="3878937"/>
            <a:ext cx="3111937" cy="1825943"/>
          </a:xfrm>
          <a:prstGeom prst="roundRect">
            <a:avLst>
              <a:gd name="adj" fmla="val 45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357" y="4084915"/>
            <a:ext cx="595313" cy="595313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84068" y="4248507"/>
            <a:ext cx="267891" cy="26789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620357" y="4878586"/>
            <a:ext cx="269998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Environmental degradation</a:t>
            </a:r>
            <a:endParaRPr lang="en-US" sz="1950" dirty="0"/>
          </a:p>
        </p:txBody>
      </p:sp>
      <p:sp>
        <p:nvSpPr>
          <p:cNvPr id="18" name="Shape 10"/>
          <p:cNvSpPr/>
          <p:nvPr/>
        </p:nvSpPr>
        <p:spPr>
          <a:xfrm>
            <a:off x="10724674" y="3878937"/>
            <a:ext cx="3111937" cy="1825943"/>
          </a:xfrm>
          <a:prstGeom prst="roundRect">
            <a:avLst>
              <a:gd name="adj" fmla="val 45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30652" y="4084915"/>
            <a:ext cx="595313" cy="595313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94363" y="4248507"/>
            <a:ext cx="267891" cy="267891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930652" y="4878586"/>
            <a:ext cx="269998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Sustainability obligations</a:t>
            </a:r>
            <a:endParaRPr lang="en-US" sz="1950" dirty="0"/>
          </a:p>
        </p:txBody>
      </p:sp>
      <p:sp>
        <p:nvSpPr>
          <p:cNvPr id="22" name="Text 12"/>
          <p:cNvSpPr/>
          <p:nvPr/>
        </p:nvSpPr>
        <p:spPr>
          <a:xfrm>
            <a:off x="793790" y="5928122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Governments must integrate environmental risk into strategic planning.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49379"/>
            <a:ext cx="1062514" cy="266700"/>
          </a:xfrm>
          <a:prstGeom prst="roundRect">
            <a:avLst>
              <a:gd name="adj" fmla="val 2000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797004"/>
            <a:ext cx="8720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REGISTER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1066800"/>
            <a:ext cx="413777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Register Template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1753433"/>
            <a:ext cx="1304282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fields in a public sector risk register: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164199"/>
            <a:ext cx="13042821" cy="4598670"/>
          </a:xfrm>
          <a:prstGeom prst="roundRect">
            <a:avLst>
              <a:gd name="adj" fmla="val 14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2171819"/>
            <a:ext cx="13027581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60239" y="2255639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Field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72276" y="2255639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410" y="2553772"/>
            <a:ext cx="13027581" cy="381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0239" y="2637592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ID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72276" y="2637592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identifier for each risk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410" y="2935724"/>
            <a:ext cx="13027581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60239" y="3019544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Description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72276" y="3019544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Cause–Event–Impact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1410" y="3317677"/>
            <a:ext cx="13027581" cy="381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239" y="3401497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Category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72276" y="3401497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Strategic, Operational, Financial, Compliance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410" y="3699629"/>
            <a:ext cx="13027581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60239" y="3783449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Likelihood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72276" y="3783449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Probability rating (1–5)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1410" y="4081582"/>
            <a:ext cx="13027581" cy="381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60239" y="4165402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72276" y="4165402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Severity rating (1–5)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1410" y="4463534"/>
            <a:ext cx="13027581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60239" y="4547354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Score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72276" y="4547354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Likelihood × Impact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1410" y="4845487"/>
            <a:ext cx="13027581" cy="381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60239" y="4929307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72276" y="4929307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mitigation measures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1410" y="5227439"/>
            <a:ext cx="13027581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60239" y="5311259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Effectiveness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72276" y="5311259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 of control performance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1410" y="5609392"/>
            <a:ext cx="13027581" cy="381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60239" y="5693212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Residual Risk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72276" y="5693212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Remaining risk after controls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01410" y="5991344"/>
            <a:ext cx="13027581" cy="3819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60239" y="6075164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Owner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872276" y="6075164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Accountable individual or unit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01410" y="6373297"/>
            <a:ext cx="13027581" cy="3819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60239" y="6457117"/>
            <a:ext cx="358699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Date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872276" y="6457117"/>
            <a:ext cx="879800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scheduled review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93790" y="6905744"/>
            <a:ext cx="13042821" cy="574477"/>
          </a:xfrm>
          <a:prstGeom prst="roundRect">
            <a:avLst>
              <a:gd name="adj" fmla="val 11608"/>
            </a:avLst>
          </a:prstGeom>
          <a:solidFill>
            <a:srgbClr val="C6E4EB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125176"/>
            <a:ext cx="198358" cy="15871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309568" y="7072313"/>
            <a:ext cx="12368332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risk register is the backbone of public sector ERM.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69407"/>
            <a:ext cx="683062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028938"/>
            <a:ext cx="444937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06009"/>
            <a:ext cx="55993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Internal Audit Integration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323743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and audit must be aligned.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9935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practices:</a:t>
            </a:r>
            <a:endParaRPr lang="en-US" sz="2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63315"/>
            <a:ext cx="6521410" cy="7937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2148" y="4655463"/>
            <a:ext cx="29629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Risk-based audit planning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63315"/>
            <a:ext cx="6521410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13558" y="46554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Heatmap reporting</a:t>
            </a:r>
            <a:endParaRPr lang="en-US" sz="1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63979"/>
            <a:ext cx="6521410" cy="7937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2148" y="61561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Control testing</a:t>
            </a:r>
            <a:endParaRPr lang="en-US" sz="1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163979"/>
            <a:ext cx="6521410" cy="7937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13558" y="6156127"/>
            <a:ext cx="249352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Continuous assurance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93790" y="6887885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provides independent validation of risk controls.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19099"/>
            <a:ext cx="1086326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378631"/>
            <a:ext cx="84820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755702"/>
            <a:ext cx="681097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Reporting to Oversight Bodies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871793"/>
            <a:ext cx="390048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Reporting structures include: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442222"/>
            <a:ext cx="6279356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Council reports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Parliamentary submissions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committees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Treasury reporting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21999" y="3673435"/>
            <a:ext cx="6565106" cy="2237065"/>
          </a:xfrm>
          <a:prstGeom prst="roundRect">
            <a:avLst>
              <a:gd name="adj" fmla="val 6388"/>
            </a:avLst>
          </a:prstGeom>
          <a:solidFill>
            <a:srgbClr val="373B48"/>
          </a:solidFill>
          <a:ln/>
        </p:spPr>
      </p:sp>
      <p:sp>
        <p:nvSpPr>
          <p:cNvPr id="8" name="Text 6"/>
          <p:cNvSpPr/>
          <p:nvPr/>
        </p:nvSpPr>
        <p:spPr>
          <a:xfrm>
            <a:off x="7620357" y="3871793"/>
            <a:ext cx="316849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Reports should include: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20357" y="4442222"/>
            <a:ext cx="6168390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risks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trends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Mitigation progress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Emerging risks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59713"/>
            <a:ext cx="1371243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619244"/>
            <a:ext cx="113311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996315"/>
            <a:ext cx="6088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Management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1914049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should link to: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54091" y="34211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Strategic objectives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509480"/>
            <a:ext cx="4564975" cy="456497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7864" y="3336191"/>
            <a:ext cx="296942" cy="2969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95284" y="34211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KPIs</a:t>
            </a:r>
            <a:endParaRPr lang="en-US" sz="1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509480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3738" y="3724692"/>
            <a:ext cx="296942" cy="2969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95284" y="5852517"/>
            <a:ext cx="27372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Service delivery metrics</a:t>
            </a:r>
            <a:endParaRPr lang="en-US" sz="1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50948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85237" y="5950565"/>
            <a:ext cx="296942" cy="29694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54091" y="58525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Budget performance</a:t>
            </a:r>
            <a:endParaRPr lang="en-US" sz="19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509480"/>
            <a:ext cx="4564975" cy="456497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9363" y="5562064"/>
            <a:ext cx="296942" cy="29694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93790" y="7297698"/>
            <a:ext cx="13042821" cy="37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Risk-informed decision-making improves accountability.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56153"/>
            <a:ext cx="994886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15685"/>
            <a:ext cx="75676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092756"/>
            <a:ext cx="58594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Implementation Roadmap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93790" y="201048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204" y="204769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438632" y="2078712"/>
            <a:ext cx="33442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1 – Governance Setup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38632" y="2507933"/>
            <a:ext cx="123979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roles, risk appetite, and oversight structures.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320242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204" y="323963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438632" y="3270647"/>
            <a:ext cx="32362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2 – Risk Identification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38632" y="3699867"/>
            <a:ext cx="123979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workshops and develop risk register.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39435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204" y="443156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438632" y="4462582"/>
            <a:ext cx="432577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3 – Assessment &amp; Prioritization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38632" y="4891802"/>
            <a:ext cx="123979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risk matrix and determine treatment.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558629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204" y="562350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438632" y="5654516"/>
            <a:ext cx="39048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4 – Monitoring &amp; Reporting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38632" y="6083737"/>
            <a:ext cx="123979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dashboards and reporting cadence.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93790" y="677822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204" y="681543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438632" y="6846451"/>
            <a:ext cx="40852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5 – Continuous Improvement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38632" y="7275671"/>
            <a:ext cx="123979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Review, update, refine controls.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19099"/>
            <a:ext cx="1006793" cy="357307"/>
          </a:xfrm>
          <a:prstGeom prst="roundRect">
            <a:avLst>
              <a:gd name="adj" fmla="val 18664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378631"/>
            <a:ext cx="768668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755702"/>
            <a:ext cx="535185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Summary &amp; Next Steps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8717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73B48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Takeaways: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442222"/>
            <a:ext cx="6955631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sector ERM protects service continuity and public trust.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and accountability are foundational.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Political and compliance risks require structured oversight.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registers and dashboards enable informed decision-making.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098274" y="3673435"/>
            <a:ext cx="5888712" cy="2237065"/>
          </a:xfrm>
          <a:prstGeom prst="roundRect">
            <a:avLst>
              <a:gd name="adj" fmla="val 6388"/>
            </a:avLst>
          </a:prstGeom>
          <a:solidFill>
            <a:srgbClr val="373B48"/>
          </a:solidFill>
          <a:ln/>
        </p:spPr>
      </p:sp>
      <p:sp>
        <p:nvSpPr>
          <p:cNvPr id="8" name="Text 6"/>
          <p:cNvSpPr/>
          <p:nvPr/>
        </p:nvSpPr>
        <p:spPr>
          <a:xfrm>
            <a:off x="8296632" y="38717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Next Steps: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96632" y="4442222"/>
            <a:ext cx="5491996" cy="1398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risk appetite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risk register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audit plan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to oversight body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681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PROPERTY NOTICE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4172872"/>
            <a:ext cx="13042821" cy="32385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4428411"/>
            <a:ext cx="13042821" cy="74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is the intellectual property of </a:t>
            </a:r>
            <a:pPr algn="l" indent="0" marL="0">
              <a:lnSpc>
                <a:spcPts val="290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Phumi Mhlongo and Nozipho Mememla</a:t>
            </a:r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All rights reserved. Unauthorized reproduction, redistribution, or commercial use is strictly prohibited without prior written consent.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681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DISCLAIMER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4172872"/>
            <a:ext cx="13042821" cy="32385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4428411"/>
            <a:ext cx="13042821" cy="74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material is provided for educational and professional purposes only. Independent professional judgment must be applied when implementing risk management frameworks in public sector environments.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2026-02-27T07:58:25Z</dcterms:created>
  <dcterms:modified xsi:type="dcterms:W3CDTF">2026-02-27T07:58:25Z</dcterms:modified>
</cp:coreProperties>
</file>